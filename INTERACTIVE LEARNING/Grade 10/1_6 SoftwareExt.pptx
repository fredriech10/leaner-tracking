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9"/>
  </p:notesMasterIdLst>
  <p:sldIdLst>
    <p:sldId id="257" r:id="rId2"/>
    <p:sldId id="296" r:id="rId3"/>
    <p:sldId id="288" r:id="rId4"/>
    <p:sldId id="347" r:id="rId5"/>
    <p:sldId id="350" r:id="rId6"/>
    <p:sldId id="348" r:id="rId7"/>
    <p:sldId id="349" r:id="rId8"/>
    <p:sldId id="351" r:id="rId9"/>
    <p:sldId id="352" r:id="rId10"/>
    <p:sldId id="353" r:id="rId11"/>
    <p:sldId id="354" r:id="rId12"/>
    <p:sldId id="334" r:id="rId13"/>
    <p:sldId id="335" r:id="rId14"/>
    <p:sldId id="355" r:id="rId15"/>
    <p:sldId id="356" r:id="rId16"/>
    <p:sldId id="313" r:id="rId17"/>
    <p:sldId id="346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F0000"/>
    <a:srgbClr val="0066FF"/>
    <a:srgbClr val="000000"/>
    <a:srgbClr val="33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9" autoAdjust="0"/>
    <p:restoredTop sz="92233" autoAdjust="0"/>
  </p:normalViewPr>
  <p:slideViewPr>
    <p:cSldViewPr>
      <p:cViewPr varScale="1">
        <p:scale>
          <a:sx n="102" d="100"/>
          <a:sy n="102" d="100"/>
        </p:scale>
        <p:origin x="180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image" Target="../media/image18.jpg"/><Relationship Id="rId4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image" Target="../media/image18.jpg"/><Relationship Id="rId4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F6BC67-416C-4AEE-AEC4-4E0F7462A70F}" type="doc">
      <dgm:prSet loTypeId="urn:microsoft.com/office/officeart/2005/8/layout/vList3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ZA"/>
        </a:p>
      </dgm:t>
    </dgm:pt>
    <dgm:pt modelId="{06347966-1A67-4506-B341-8BF14916C62F}">
      <dgm:prSet phldrT="[Text]" custT="1"/>
      <dgm:spPr>
        <a:xfrm>
          <a:off x="0" y="34215"/>
          <a:ext cx="1975104" cy="696451"/>
        </a:xfrm>
      </dgm:spPr>
      <dgm:t>
        <a:bodyPr/>
        <a:lstStyle/>
        <a:p>
          <a:r>
            <a:rPr lang="en-ZA" dirty="0">
              <a:latin typeface="+mn-lt"/>
              <a:ea typeface="+mn-ea"/>
              <a:cs typeface="+mn-cs"/>
            </a:rPr>
            <a:t>Integrated software</a:t>
          </a:r>
        </a:p>
      </dgm:t>
    </dgm:pt>
    <dgm:pt modelId="{66572654-B098-46AF-B302-251354B0F2E0}" type="parTrans" cxnId="{2ABA8F09-7200-4DD5-AEE4-E4EDDAF1B60D}">
      <dgm:prSet/>
      <dgm:spPr/>
      <dgm:t>
        <a:bodyPr/>
        <a:lstStyle/>
        <a:p>
          <a:endParaRPr lang="en-ZA"/>
        </a:p>
      </dgm:t>
    </dgm:pt>
    <dgm:pt modelId="{B4BF484A-8595-40FD-895E-7139B90F3795}" type="sibTrans" cxnId="{2ABA8F09-7200-4DD5-AEE4-E4EDDAF1B60D}">
      <dgm:prSet/>
      <dgm:spPr/>
      <dgm:t>
        <a:bodyPr/>
        <a:lstStyle/>
        <a:p>
          <a:endParaRPr lang="en-ZA"/>
        </a:p>
      </dgm:t>
    </dgm:pt>
    <dgm:pt modelId="{2BDF80DD-5A9C-44F4-A6E2-2B709A0FDB55}">
      <dgm:prSet phldrT="[Text]" custT="1"/>
      <dgm:spPr>
        <a:xfrm>
          <a:off x="0" y="844462"/>
          <a:ext cx="1975104" cy="697519"/>
        </a:xfrm>
      </dgm:spPr>
      <dgm:t>
        <a:bodyPr/>
        <a:lstStyle/>
        <a:p>
          <a:r>
            <a:rPr lang="en-ZA" dirty="0">
              <a:latin typeface="+mn-lt"/>
              <a:ea typeface="+mn-ea"/>
              <a:cs typeface="+mn-cs"/>
            </a:rPr>
            <a:t>Licence Agreements</a:t>
          </a:r>
        </a:p>
      </dgm:t>
    </dgm:pt>
    <dgm:pt modelId="{F179298F-BFB0-47D1-9EEE-B752CE20E5B0}" type="parTrans" cxnId="{C818F0AB-BA8B-4277-B81B-08803E5514AD}">
      <dgm:prSet/>
      <dgm:spPr/>
      <dgm:t>
        <a:bodyPr/>
        <a:lstStyle/>
        <a:p>
          <a:endParaRPr lang="en-ZA"/>
        </a:p>
      </dgm:t>
    </dgm:pt>
    <dgm:pt modelId="{6FFA19A0-147F-4423-AE19-2C3872AAF9E6}" type="sibTrans" cxnId="{C818F0AB-BA8B-4277-B81B-08803E5514AD}">
      <dgm:prSet/>
      <dgm:spPr/>
      <dgm:t>
        <a:bodyPr/>
        <a:lstStyle/>
        <a:p>
          <a:endParaRPr lang="en-ZA"/>
        </a:p>
      </dgm:t>
    </dgm:pt>
    <dgm:pt modelId="{E736F510-2120-4262-82EE-0C8EF4AB0E71}">
      <dgm:prSet phldrT="[Text]" custT="1"/>
      <dgm:spPr>
        <a:xfrm>
          <a:off x="0" y="1670786"/>
          <a:ext cx="1975104" cy="666433"/>
        </a:xfrm>
      </dgm:spPr>
      <dgm:t>
        <a:bodyPr/>
        <a:lstStyle/>
        <a:p>
          <a:r>
            <a:rPr lang="en-ZA" dirty="0">
              <a:latin typeface="+mn-lt"/>
              <a:ea typeface="+mn-ea"/>
              <a:cs typeface="+mn-cs"/>
            </a:rPr>
            <a:t>Free software</a:t>
          </a:r>
        </a:p>
      </dgm:t>
    </dgm:pt>
    <dgm:pt modelId="{27D69086-CFAF-4DFB-A16C-F3082D1A2B8C}" type="parTrans" cxnId="{92ADA02D-1079-423E-A7C9-1E2BD950D0E7}">
      <dgm:prSet/>
      <dgm:spPr/>
      <dgm:t>
        <a:bodyPr/>
        <a:lstStyle/>
        <a:p>
          <a:endParaRPr lang="en-ZA"/>
        </a:p>
      </dgm:t>
    </dgm:pt>
    <dgm:pt modelId="{06D8B9CD-6BA8-40E4-9706-64C2A35386A8}" type="sibTrans" cxnId="{92ADA02D-1079-423E-A7C9-1E2BD950D0E7}">
      <dgm:prSet/>
      <dgm:spPr/>
      <dgm:t>
        <a:bodyPr/>
        <a:lstStyle/>
        <a:p>
          <a:endParaRPr lang="en-ZA"/>
        </a:p>
      </dgm:t>
    </dgm:pt>
    <dgm:pt modelId="{4ADEAE6A-D968-42F6-8F6A-F0D895B09293}">
      <dgm:prSet phldrT="[Text]" custT="1"/>
      <dgm:spPr>
        <a:xfrm>
          <a:off x="0" y="2495893"/>
          <a:ext cx="1975104" cy="637779"/>
        </a:xfrm>
      </dgm:spPr>
      <dgm:t>
        <a:bodyPr/>
        <a:lstStyle/>
        <a:p>
          <a:r>
            <a:rPr lang="en-ZA" dirty="0">
              <a:latin typeface="+mn-lt"/>
              <a:ea typeface="+mn-ea"/>
              <a:cs typeface="+mn-cs"/>
            </a:rPr>
            <a:t>System software</a:t>
          </a:r>
        </a:p>
      </dgm:t>
    </dgm:pt>
    <dgm:pt modelId="{90BC9681-E1E6-48D5-A1F8-FF1F54F1BADC}" type="parTrans" cxnId="{44498038-5B5E-4E45-9C32-04AA01BE6B62}">
      <dgm:prSet/>
      <dgm:spPr/>
      <dgm:t>
        <a:bodyPr/>
        <a:lstStyle/>
        <a:p>
          <a:endParaRPr lang="en-ZA"/>
        </a:p>
      </dgm:t>
    </dgm:pt>
    <dgm:pt modelId="{5B534EA5-9E05-48C4-93C2-A41137A091B9}" type="sibTrans" cxnId="{44498038-5B5E-4E45-9C32-04AA01BE6B62}">
      <dgm:prSet/>
      <dgm:spPr/>
      <dgm:t>
        <a:bodyPr/>
        <a:lstStyle/>
        <a:p>
          <a:endParaRPr lang="en-ZA"/>
        </a:p>
      </dgm:t>
    </dgm:pt>
    <dgm:pt modelId="{596F0349-4814-4CE8-A7DC-1ADA15961996}" type="pres">
      <dgm:prSet presAssocID="{00F6BC67-416C-4AEE-AEC4-4E0F7462A70F}" presName="linearFlow" presStyleCnt="0">
        <dgm:presLayoutVars>
          <dgm:dir/>
          <dgm:resizeHandles val="exact"/>
        </dgm:presLayoutVars>
      </dgm:prSet>
      <dgm:spPr/>
    </dgm:pt>
    <dgm:pt modelId="{EB5D5250-8825-4531-AF95-9AAD1140F814}" type="pres">
      <dgm:prSet presAssocID="{06347966-1A67-4506-B341-8BF14916C62F}" presName="composite" presStyleCnt="0"/>
      <dgm:spPr/>
    </dgm:pt>
    <dgm:pt modelId="{5E0DA04F-0108-44D5-A835-E19FA1F7B22A}" type="pres">
      <dgm:prSet presAssocID="{06347966-1A67-4506-B341-8BF14916C62F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9C72EEA-C733-4A35-9219-731835659D91}" type="pres">
      <dgm:prSet presAssocID="{06347966-1A67-4506-B341-8BF14916C62F}" presName="txShp" presStyleLbl="node1" presStyleIdx="0" presStyleCnt="4">
        <dgm:presLayoutVars>
          <dgm:bulletEnabled val="1"/>
        </dgm:presLayoutVars>
      </dgm:prSet>
      <dgm:spPr/>
    </dgm:pt>
    <dgm:pt modelId="{944BF5A0-DD85-49BB-BAE1-A0F986F0839C}" type="pres">
      <dgm:prSet presAssocID="{B4BF484A-8595-40FD-895E-7139B90F3795}" presName="spacing" presStyleCnt="0"/>
      <dgm:spPr/>
    </dgm:pt>
    <dgm:pt modelId="{7F57805D-7F1E-4E91-BF56-F7B7CB1E65BA}" type="pres">
      <dgm:prSet presAssocID="{2BDF80DD-5A9C-44F4-A6E2-2B709A0FDB55}" presName="composite" presStyleCnt="0"/>
      <dgm:spPr/>
    </dgm:pt>
    <dgm:pt modelId="{0990A6B4-AF38-4F94-9718-DCBA36E22900}" type="pres">
      <dgm:prSet presAssocID="{2BDF80DD-5A9C-44F4-A6E2-2B709A0FDB55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1000" r="-51000"/>
          </a:stretch>
        </a:blipFill>
      </dgm:spPr>
    </dgm:pt>
    <dgm:pt modelId="{0BFE073C-7B37-4886-A5E8-1ED388FB7C20}" type="pres">
      <dgm:prSet presAssocID="{2BDF80DD-5A9C-44F4-A6E2-2B709A0FDB55}" presName="txShp" presStyleLbl="node1" presStyleIdx="1" presStyleCnt="4">
        <dgm:presLayoutVars>
          <dgm:bulletEnabled val="1"/>
        </dgm:presLayoutVars>
      </dgm:prSet>
      <dgm:spPr/>
    </dgm:pt>
    <dgm:pt modelId="{9AAE3640-EF6C-4C03-8D66-2ACBACD839EA}" type="pres">
      <dgm:prSet presAssocID="{6FFA19A0-147F-4423-AE19-2C3872AAF9E6}" presName="spacing" presStyleCnt="0"/>
      <dgm:spPr/>
    </dgm:pt>
    <dgm:pt modelId="{F43DC5AE-6EAA-407B-9B3C-20CBBFDB3A28}" type="pres">
      <dgm:prSet presAssocID="{E736F510-2120-4262-82EE-0C8EF4AB0E71}" presName="composite" presStyleCnt="0"/>
      <dgm:spPr/>
    </dgm:pt>
    <dgm:pt modelId="{EBD54EAA-FFB3-405C-987E-F95CC6F71B7C}" type="pres">
      <dgm:prSet presAssocID="{E736F510-2120-4262-82EE-0C8EF4AB0E71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000" r="-44000"/>
          </a:stretch>
        </a:blipFill>
      </dgm:spPr>
    </dgm:pt>
    <dgm:pt modelId="{156BB0F4-40CF-4C33-AAB0-2EC63760EFF6}" type="pres">
      <dgm:prSet presAssocID="{E736F510-2120-4262-82EE-0C8EF4AB0E71}" presName="txShp" presStyleLbl="node1" presStyleIdx="2" presStyleCnt="4">
        <dgm:presLayoutVars>
          <dgm:bulletEnabled val="1"/>
        </dgm:presLayoutVars>
      </dgm:prSet>
      <dgm:spPr/>
    </dgm:pt>
    <dgm:pt modelId="{A2D774DB-83D7-4763-B0F4-DEAFFC77E981}" type="pres">
      <dgm:prSet presAssocID="{06D8B9CD-6BA8-40E4-9706-64C2A35386A8}" presName="spacing" presStyleCnt="0"/>
      <dgm:spPr/>
    </dgm:pt>
    <dgm:pt modelId="{09BBBF70-8709-4D73-BA15-5D45250A9AD6}" type="pres">
      <dgm:prSet presAssocID="{4ADEAE6A-D968-42F6-8F6A-F0D895B09293}" presName="composite" presStyleCnt="0"/>
      <dgm:spPr/>
    </dgm:pt>
    <dgm:pt modelId="{39EADB68-77B1-407F-B422-D899AA7AFABC}" type="pres">
      <dgm:prSet presAssocID="{4ADEAE6A-D968-42F6-8F6A-F0D895B09293}" presName="imgShp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73F4248-C113-4F32-98AF-329B3506B71B}" type="pres">
      <dgm:prSet presAssocID="{4ADEAE6A-D968-42F6-8F6A-F0D895B09293}" presName="txShp" presStyleLbl="node1" presStyleIdx="3" presStyleCnt="4">
        <dgm:presLayoutVars>
          <dgm:bulletEnabled val="1"/>
        </dgm:presLayoutVars>
      </dgm:prSet>
      <dgm:spPr/>
    </dgm:pt>
  </dgm:ptLst>
  <dgm:cxnLst>
    <dgm:cxn modelId="{370283CD-12E6-4B96-A8F8-4B36B39A85F1}" type="presOf" srcId="{E736F510-2120-4262-82EE-0C8EF4AB0E71}" destId="{156BB0F4-40CF-4C33-AAB0-2EC63760EFF6}" srcOrd="0" destOrd="0" presId="urn:microsoft.com/office/officeart/2005/8/layout/vList3"/>
    <dgm:cxn modelId="{C818F0AB-BA8B-4277-B81B-08803E5514AD}" srcId="{00F6BC67-416C-4AEE-AEC4-4E0F7462A70F}" destId="{2BDF80DD-5A9C-44F4-A6E2-2B709A0FDB55}" srcOrd="1" destOrd="0" parTransId="{F179298F-BFB0-47D1-9EEE-B752CE20E5B0}" sibTransId="{6FFA19A0-147F-4423-AE19-2C3872AAF9E6}"/>
    <dgm:cxn modelId="{3A631442-F288-4F23-981F-50CF8825220D}" type="presOf" srcId="{4ADEAE6A-D968-42F6-8F6A-F0D895B09293}" destId="{B73F4248-C113-4F32-98AF-329B3506B71B}" srcOrd="0" destOrd="0" presId="urn:microsoft.com/office/officeart/2005/8/layout/vList3"/>
    <dgm:cxn modelId="{2ABA8F09-7200-4DD5-AEE4-E4EDDAF1B60D}" srcId="{00F6BC67-416C-4AEE-AEC4-4E0F7462A70F}" destId="{06347966-1A67-4506-B341-8BF14916C62F}" srcOrd="0" destOrd="0" parTransId="{66572654-B098-46AF-B302-251354B0F2E0}" sibTransId="{B4BF484A-8595-40FD-895E-7139B90F3795}"/>
    <dgm:cxn modelId="{44498038-5B5E-4E45-9C32-04AA01BE6B62}" srcId="{00F6BC67-416C-4AEE-AEC4-4E0F7462A70F}" destId="{4ADEAE6A-D968-42F6-8F6A-F0D895B09293}" srcOrd="3" destOrd="0" parTransId="{90BC9681-E1E6-48D5-A1F8-FF1F54F1BADC}" sibTransId="{5B534EA5-9E05-48C4-93C2-A41137A091B9}"/>
    <dgm:cxn modelId="{675AAEE5-EB83-4B41-A962-42693A70396B}" type="presOf" srcId="{06347966-1A67-4506-B341-8BF14916C62F}" destId="{89C72EEA-C733-4A35-9219-731835659D91}" srcOrd="0" destOrd="0" presId="urn:microsoft.com/office/officeart/2005/8/layout/vList3"/>
    <dgm:cxn modelId="{53A14CAB-FB4E-40F0-BEC8-41D96577C571}" type="presOf" srcId="{2BDF80DD-5A9C-44F4-A6E2-2B709A0FDB55}" destId="{0BFE073C-7B37-4886-A5E8-1ED388FB7C20}" srcOrd="0" destOrd="0" presId="urn:microsoft.com/office/officeart/2005/8/layout/vList3"/>
    <dgm:cxn modelId="{375B82E4-6232-47D3-9111-7D69FCCD6FA8}" type="presOf" srcId="{00F6BC67-416C-4AEE-AEC4-4E0F7462A70F}" destId="{596F0349-4814-4CE8-A7DC-1ADA15961996}" srcOrd="0" destOrd="0" presId="urn:microsoft.com/office/officeart/2005/8/layout/vList3"/>
    <dgm:cxn modelId="{92ADA02D-1079-423E-A7C9-1E2BD950D0E7}" srcId="{00F6BC67-416C-4AEE-AEC4-4E0F7462A70F}" destId="{E736F510-2120-4262-82EE-0C8EF4AB0E71}" srcOrd="2" destOrd="0" parTransId="{27D69086-CFAF-4DFB-A16C-F3082D1A2B8C}" sibTransId="{06D8B9CD-6BA8-40E4-9706-64C2A35386A8}"/>
    <dgm:cxn modelId="{A22718CA-37A5-4FF4-9609-2FE4BC6531EA}" type="presParOf" srcId="{596F0349-4814-4CE8-A7DC-1ADA15961996}" destId="{EB5D5250-8825-4531-AF95-9AAD1140F814}" srcOrd="0" destOrd="0" presId="urn:microsoft.com/office/officeart/2005/8/layout/vList3"/>
    <dgm:cxn modelId="{20BBDDA0-2B09-4DE5-A70B-C18F3ED37F8E}" type="presParOf" srcId="{EB5D5250-8825-4531-AF95-9AAD1140F814}" destId="{5E0DA04F-0108-44D5-A835-E19FA1F7B22A}" srcOrd="0" destOrd="0" presId="urn:microsoft.com/office/officeart/2005/8/layout/vList3"/>
    <dgm:cxn modelId="{8AA62D8C-2061-4627-B0EF-826409FE5164}" type="presParOf" srcId="{EB5D5250-8825-4531-AF95-9AAD1140F814}" destId="{89C72EEA-C733-4A35-9219-731835659D91}" srcOrd="1" destOrd="0" presId="urn:microsoft.com/office/officeart/2005/8/layout/vList3"/>
    <dgm:cxn modelId="{ADF6C073-978C-4382-8F19-A90DB18DED33}" type="presParOf" srcId="{596F0349-4814-4CE8-A7DC-1ADA15961996}" destId="{944BF5A0-DD85-49BB-BAE1-A0F986F0839C}" srcOrd="1" destOrd="0" presId="urn:microsoft.com/office/officeart/2005/8/layout/vList3"/>
    <dgm:cxn modelId="{0AE03D0F-0C21-418B-893C-FB167E89B16D}" type="presParOf" srcId="{596F0349-4814-4CE8-A7DC-1ADA15961996}" destId="{7F57805D-7F1E-4E91-BF56-F7B7CB1E65BA}" srcOrd="2" destOrd="0" presId="urn:microsoft.com/office/officeart/2005/8/layout/vList3"/>
    <dgm:cxn modelId="{B9D0E28C-2202-427A-B7F4-4509554263E6}" type="presParOf" srcId="{7F57805D-7F1E-4E91-BF56-F7B7CB1E65BA}" destId="{0990A6B4-AF38-4F94-9718-DCBA36E22900}" srcOrd="0" destOrd="0" presId="urn:microsoft.com/office/officeart/2005/8/layout/vList3"/>
    <dgm:cxn modelId="{5E635A2B-E1C8-49B1-9CD2-D9AC0B52A168}" type="presParOf" srcId="{7F57805D-7F1E-4E91-BF56-F7B7CB1E65BA}" destId="{0BFE073C-7B37-4886-A5E8-1ED388FB7C20}" srcOrd="1" destOrd="0" presId="urn:microsoft.com/office/officeart/2005/8/layout/vList3"/>
    <dgm:cxn modelId="{3350F800-9139-40EF-9F08-622D8452B37D}" type="presParOf" srcId="{596F0349-4814-4CE8-A7DC-1ADA15961996}" destId="{9AAE3640-EF6C-4C03-8D66-2ACBACD839EA}" srcOrd="3" destOrd="0" presId="urn:microsoft.com/office/officeart/2005/8/layout/vList3"/>
    <dgm:cxn modelId="{43CF2880-8DC8-4B7C-B36F-100C67622B2B}" type="presParOf" srcId="{596F0349-4814-4CE8-A7DC-1ADA15961996}" destId="{F43DC5AE-6EAA-407B-9B3C-20CBBFDB3A28}" srcOrd="4" destOrd="0" presId="urn:microsoft.com/office/officeart/2005/8/layout/vList3"/>
    <dgm:cxn modelId="{78A8A143-2F8C-49E9-BD7F-8610ACC0E663}" type="presParOf" srcId="{F43DC5AE-6EAA-407B-9B3C-20CBBFDB3A28}" destId="{EBD54EAA-FFB3-405C-987E-F95CC6F71B7C}" srcOrd="0" destOrd="0" presId="urn:microsoft.com/office/officeart/2005/8/layout/vList3"/>
    <dgm:cxn modelId="{1FCC4743-1EFB-4D97-BC8B-3020289B35FC}" type="presParOf" srcId="{F43DC5AE-6EAA-407B-9B3C-20CBBFDB3A28}" destId="{156BB0F4-40CF-4C33-AAB0-2EC63760EFF6}" srcOrd="1" destOrd="0" presId="urn:microsoft.com/office/officeart/2005/8/layout/vList3"/>
    <dgm:cxn modelId="{0A8776C5-A4F4-443B-A7BF-A6FD580FA95B}" type="presParOf" srcId="{596F0349-4814-4CE8-A7DC-1ADA15961996}" destId="{A2D774DB-83D7-4763-B0F4-DEAFFC77E981}" srcOrd="5" destOrd="0" presId="urn:microsoft.com/office/officeart/2005/8/layout/vList3"/>
    <dgm:cxn modelId="{ED262A50-D2AA-4DB6-962D-153F693E54CD}" type="presParOf" srcId="{596F0349-4814-4CE8-A7DC-1ADA15961996}" destId="{09BBBF70-8709-4D73-BA15-5D45250A9AD6}" srcOrd="6" destOrd="0" presId="urn:microsoft.com/office/officeart/2005/8/layout/vList3"/>
    <dgm:cxn modelId="{2B13525F-0505-4214-A610-39DE13AC256D}" type="presParOf" srcId="{09BBBF70-8709-4D73-BA15-5D45250A9AD6}" destId="{39EADB68-77B1-407F-B422-D899AA7AFABC}" srcOrd="0" destOrd="0" presId="urn:microsoft.com/office/officeart/2005/8/layout/vList3"/>
    <dgm:cxn modelId="{56188CD4-0C87-4080-8870-D8048534D8F1}" type="presParOf" srcId="{09BBBF70-8709-4D73-BA15-5D45250A9AD6}" destId="{B73F4248-C113-4F32-98AF-329B3506B71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72EEA-C733-4A35-9219-731835659D91}">
      <dsp:nvSpPr>
        <dsp:cNvPr id="0" name=""/>
        <dsp:cNvSpPr/>
      </dsp:nvSpPr>
      <dsp:spPr>
        <a:xfrm rot="10800000">
          <a:off x="1472080" y="297"/>
          <a:ext cx="4975801" cy="875109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89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>
              <a:latin typeface="+mn-lt"/>
              <a:ea typeface="+mn-ea"/>
              <a:cs typeface="+mn-cs"/>
            </a:rPr>
            <a:t>Integrated software</a:t>
          </a:r>
        </a:p>
      </dsp:txBody>
      <dsp:txXfrm rot="10800000">
        <a:off x="1690857" y="297"/>
        <a:ext cx="4757024" cy="875109"/>
      </dsp:txXfrm>
    </dsp:sp>
    <dsp:sp modelId="{5E0DA04F-0108-44D5-A835-E19FA1F7B22A}">
      <dsp:nvSpPr>
        <dsp:cNvPr id="0" name=""/>
        <dsp:cNvSpPr/>
      </dsp:nvSpPr>
      <dsp:spPr>
        <a:xfrm>
          <a:off x="1034526" y="297"/>
          <a:ext cx="875109" cy="87510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E073C-7B37-4886-A5E8-1ED388FB7C20}">
      <dsp:nvSpPr>
        <dsp:cNvPr id="0" name=""/>
        <dsp:cNvSpPr/>
      </dsp:nvSpPr>
      <dsp:spPr>
        <a:xfrm rot="10800000">
          <a:off x="1472080" y="1136633"/>
          <a:ext cx="4975801" cy="875109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89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>
              <a:latin typeface="+mn-lt"/>
              <a:ea typeface="+mn-ea"/>
              <a:cs typeface="+mn-cs"/>
            </a:rPr>
            <a:t>Licence Agreements</a:t>
          </a:r>
        </a:p>
      </dsp:txBody>
      <dsp:txXfrm rot="10800000">
        <a:off x="1690857" y="1136633"/>
        <a:ext cx="4757024" cy="875109"/>
      </dsp:txXfrm>
    </dsp:sp>
    <dsp:sp modelId="{0990A6B4-AF38-4F94-9718-DCBA36E22900}">
      <dsp:nvSpPr>
        <dsp:cNvPr id="0" name=""/>
        <dsp:cNvSpPr/>
      </dsp:nvSpPr>
      <dsp:spPr>
        <a:xfrm>
          <a:off x="1034526" y="1136633"/>
          <a:ext cx="875109" cy="87510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1000" r="-51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BB0F4-40CF-4C33-AAB0-2EC63760EFF6}">
      <dsp:nvSpPr>
        <dsp:cNvPr id="0" name=""/>
        <dsp:cNvSpPr/>
      </dsp:nvSpPr>
      <dsp:spPr>
        <a:xfrm rot="10800000">
          <a:off x="1472080" y="2272969"/>
          <a:ext cx="4975801" cy="875109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89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>
              <a:latin typeface="+mn-lt"/>
              <a:ea typeface="+mn-ea"/>
              <a:cs typeface="+mn-cs"/>
            </a:rPr>
            <a:t>Free software</a:t>
          </a:r>
        </a:p>
      </dsp:txBody>
      <dsp:txXfrm rot="10800000">
        <a:off x="1690857" y="2272969"/>
        <a:ext cx="4757024" cy="875109"/>
      </dsp:txXfrm>
    </dsp:sp>
    <dsp:sp modelId="{EBD54EAA-FFB3-405C-987E-F95CC6F71B7C}">
      <dsp:nvSpPr>
        <dsp:cNvPr id="0" name=""/>
        <dsp:cNvSpPr/>
      </dsp:nvSpPr>
      <dsp:spPr>
        <a:xfrm>
          <a:off x="1034526" y="2272969"/>
          <a:ext cx="875109" cy="87510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000" r="-44000"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F4248-C113-4F32-98AF-329B3506B71B}">
      <dsp:nvSpPr>
        <dsp:cNvPr id="0" name=""/>
        <dsp:cNvSpPr/>
      </dsp:nvSpPr>
      <dsp:spPr>
        <a:xfrm rot="10800000">
          <a:off x="1472080" y="3409305"/>
          <a:ext cx="4975801" cy="875109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5899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>
              <a:latin typeface="+mn-lt"/>
              <a:ea typeface="+mn-ea"/>
              <a:cs typeface="+mn-cs"/>
            </a:rPr>
            <a:t>System software</a:t>
          </a:r>
        </a:p>
      </dsp:txBody>
      <dsp:txXfrm rot="10800000">
        <a:off x="1690857" y="3409305"/>
        <a:ext cx="4757024" cy="875109"/>
      </dsp:txXfrm>
    </dsp:sp>
    <dsp:sp modelId="{39EADB68-77B1-407F-B422-D899AA7AFABC}">
      <dsp:nvSpPr>
        <dsp:cNvPr id="0" name=""/>
        <dsp:cNvSpPr/>
      </dsp:nvSpPr>
      <dsp:spPr>
        <a:xfrm>
          <a:off x="1034526" y="3409305"/>
          <a:ext cx="875109" cy="875109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the idea of Graphical User Interfaces (GUIs), programs looked very different (they had a different interface). It was therefore quite hard to learn how to use a new program. It was also very difficult to share data between these programs. </a:t>
            </a:r>
          </a:p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3647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r>
              <a:rPr lang="en-ZA" dirty="0"/>
              <a:t>Interesting fact: You</a:t>
            </a:r>
            <a:r>
              <a:rPr lang="en-ZA" baseline="0" dirty="0"/>
              <a:t> are allowed to install your software on your PC and another portable device (laptop). It is important to read your licence agreements carefully.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46529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03465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61771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31003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92451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source software may be altered, but cannot be sold. The support and documentation can be charged for (it is the source code that is free).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84014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2191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0793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27954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Purpose</a:t>
            </a:r>
            <a:r>
              <a:rPr lang="en-US" baseline="0" dirty="0"/>
              <a:t> of this exercise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The</a:t>
            </a:r>
            <a:r>
              <a:rPr lang="en-US" baseline="0" dirty="0"/>
              <a:t> learners practice compressing and unzipping files and folders using utility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20552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1373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6460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22030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61965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815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4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4914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351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83500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66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7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91034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666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9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1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5580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0" pos="594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cap="none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Module 1.6 </a:t>
            </a:r>
            <a:br>
              <a:rPr lang="en-US" sz="8000" cap="none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ZA" sz="8000" cap="none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Extended software concepts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4509120"/>
            <a:ext cx="1513820" cy="216000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916832"/>
            <a:ext cx="7175648" cy="3960440"/>
          </a:xfrm>
        </p:spPr>
        <p:txBody>
          <a:bodyPr>
            <a:normAutofit/>
          </a:bodyPr>
          <a:lstStyle/>
          <a:p>
            <a:r>
              <a:rPr lang="en-ZA" sz="3200" dirty="0">
                <a:hlinkClick r:id="rId2" action="ppaction://hlinksldjump"/>
              </a:rPr>
              <a:t>Integrated software</a:t>
            </a:r>
            <a:endParaRPr lang="en-ZA" sz="3200" dirty="0"/>
          </a:p>
          <a:p>
            <a:r>
              <a:rPr lang="en-ZA" sz="3200" dirty="0">
                <a:hlinkClick r:id="rId3" action="ppaction://hlinksldjump"/>
              </a:rPr>
              <a:t>Licensing agreements</a:t>
            </a:r>
            <a:endParaRPr lang="en-ZA" sz="3200" dirty="0"/>
          </a:p>
          <a:p>
            <a:r>
              <a:rPr lang="en-ZA" sz="3200" dirty="0">
                <a:hlinkClick r:id="rId4" action="ppaction://hlinksldjump"/>
              </a:rPr>
              <a:t>Free software!</a:t>
            </a:r>
            <a:endParaRPr lang="en-ZA" sz="3200" dirty="0"/>
          </a:p>
          <a:p>
            <a:r>
              <a:rPr lang="en-ZA" sz="3200" dirty="0">
                <a:hlinkClick r:id="rId5" action="ppaction://hlinksldjump"/>
              </a:rPr>
              <a:t>System software</a:t>
            </a:r>
            <a:endParaRPr lang="en-ZA" sz="3200" dirty="0"/>
          </a:p>
          <a:p>
            <a:r>
              <a:rPr lang="en-ZA" sz="3200" dirty="0">
                <a:hlinkClick r:id="rId6" action="ppaction://hlinksldjump"/>
              </a:rPr>
              <a:t>Test and </a:t>
            </a:r>
            <a:r>
              <a:rPr lang="en-ZA" sz="3200">
                <a:hlinkClick r:id="rId6" action="ppaction://hlinksldjump"/>
              </a:rPr>
              <a:t>improve </a:t>
            </a:r>
            <a:endParaRPr lang="en-ZA" sz="3200" dirty="0"/>
          </a:p>
          <a:p>
            <a:r>
              <a:rPr lang="en-ZA" sz="3200"/>
              <a:t>Written module activity</a:t>
            </a:r>
            <a:endParaRPr lang="en-ZA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38758" y="382385"/>
            <a:ext cx="3705250" cy="958383"/>
          </a:xfrm>
        </p:spPr>
        <p:txBody>
          <a:bodyPr/>
          <a:lstStyle/>
          <a:p>
            <a:r>
              <a:rPr lang="en-ZA" dirty="0"/>
              <a:t>Contents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55007" y="1789360"/>
            <a:ext cx="40654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Example of integrated software</a:t>
            </a:r>
          </a:p>
          <a:p>
            <a:r>
              <a:rPr lang="en-ZA" sz="2400" dirty="0">
                <a:latin typeface="+mn-lt"/>
              </a:rPr>
              <a:t>Microsoft Office</a:t>
            </a:r>
            <a:r>
              <a:rPr lang="en-ZA" sz="2400" b="0" dirty="0">
                <a:latin typeface="+mn-lt"/>
              </a:rPr>
              <a:t>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3974" y="1789360"/>
            <a:ext cx="3811033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</a:pPr>
            <a:r>
              <a:rPr lang="en-ZA" sz="2400" dirty="0">
                <a:latin typeface="+mn-lt"/>
              </a:rPr>
              <a:t>Advantages: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Separate packages have a similar interface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ZA" sz="2400" b="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Separate packages designed to share and exchange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ZA" sz="2400" b="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Sold as a suite of programs – one purchase</a:t>
            </a:r>
          </a:p>
          <a:p>
            <a:pPr lvl="0"/>
            <a:r>
              <a:rPr lang="en-ZA" sz="2400" b="0" dirty="0">
                <a:latin typeface="+mn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integrated software</a:t>
            </a:r>
            <a:endParaRPr lang="en-ZA" dirty="0"/>
          </a:p>
        </p:txBody>
      </p:sp>
      <p:pic>
        <p:nvPicPr>
          <p:cNvPr id="13" name="Picture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69" y="2733631"/>
            <a:ext cx="3556368" cy="205842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EUL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31" y="1225865"/>
            <a:ext cx="3143272" cy="2571768"/>
          </a:xfrm>
          <a:prstGeom prst="rect">
            <a:avLst/>
          </a:prstGeom>
          <a:noFill/>
        </p:spPr>
      </p:pic>
      <p:sp>
        <p:nvSpPr>
          <p:cNvPr id="19" name="Rectangle 18"/>
          <p:cNvSpPr/>
          <p:nvPr/>
        </p:nvSpPr>
        <p:spPr>
          <a:xfrm>
            <a:off x="785818" y="1977163"/>
            <a:ext cx="4572000" cy="47705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ZA" sz="1600" b="0" dirty="0"/>
              <a:t>1. OVERVIEW.  These license terms permit installation and use of one copy of the software on one device, along with other rights, all as described below.</a:t>
            </a:r>
          </a:p>
          <a:p>
            <a:r>
              <a:rPr lang="en-ZA" sz="1600" b="0" dirty="0"/>
              <a:t>2. INSTALLATION AND USE RIGHTS.  Before you use the software under a license, you must assign that license to one device.  That device is the “licensed device.”  A hardware partition or blade is considered to be a separate device.  </a:t>
            </a:r>
          </a:p>
          <a:p>
            <a:r>
              <a:rPr lang="en-ZA" sz="1600" dirty="0"/>
              <a:t>a. Licensed Device.  You may install and use one copy of the software on the licensed device.</a:t>
            </a:r>
          </a:p>
          <a:p>
            <a:r>
              <a:rPr lang="en-ZA" sz="1600" dirty="0"/>
              <a:t>b. Portable Device.  You may install another copy on a portable device for use by the single primary user of the licensed device.</a:t>
            </a:r>
          </a:p>
          <a:p>
            <a:r>
              <a:rPr lang="en-ZA" sz="1600" b="0" dirty="0"/>
              <a:t>c. Separation of Components.  The components of the software are licensed as a single unit.  You may not separate the components and install them on different devices.</a:t>
            </a:r>
          </a:p>
        </p:txBody>
      </p:sp>
      <p:sp>
        <p:nvSpPr>
          <p:cNvPr id="21" name="Cloud 20"/>
          <p:cNvSpPr/>
          <p:nvPr/>
        </p:nvSpPr>
        <p:spPr bwMode="auto">
          <a:xfrm>
            <a:off x="5555768" y="1731925"/>
            <a:ext cx="3311294" cy="4786346"/>
          </a:xfrm>
          <a:prstGeom prst="cloud">
            <a:avLst/>
          </a:prstGeom>
          <a:solidFill>
            <a:srgbClr val="FF0000">
              <a:alpha val="32941"/>
            </a:srgbClr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ZA" b="0" dirty="0">
                <a:latin typeface="+mn-lt"/>
              </a:rPr>
              <a:t>These are actually legally binding contracts between you as the user and the software company.  These license agreements are often termed </a:t>
            </a:r>
            <a:r>
              <a:rPr lang="en-ZA" b="0" i="1" dirty="0">
                <a:latin typeface="+mn-lt"/>
              </a:rPr>
              <a:t>EULAs</a:t>
            </a:r>
            <a:r>
              <a:rPr lang="en-ZA" b="0" dirty="0">
                <a:latin typeface="+mn-lt"/>
              </a:rPr>
              <a:t> or </a:t>
            </a:r>
            <a:br>
              <a:rPr lang="en-ZA" b="0" dirty="0">
                <a:latin typeface="+mn-lt"/>
              </a:rPr>
            </a:br>
            <a:r>
              <a:rPr lang="en-ZA" b="0" u="sng" dirty="0">
                <a:latin typeface="+mn-lt"/>
              </a:rPr>
              <a:t>E</a:t>
            </a:r>
            <a:r>
              <a:rPr lang="en-ZA" b="0" dirty="0">
                <a:latin typeface="+mn-lt"/>
              </a:rPr>
              <a:t>nd-</a:t>
            </a:r>
            <a:r>
              <a:rPr lang="en-ZA" b="0" u="sng" dirty="0">
                <a:latin typeface="+mn-lt"/>
              </a:rPr>
              <a:t>U</a:t>
            </a:r>
            <a:r>
              <a:rPr lang="en-ZA" b="0" dirty="0">
                <a:latin typeface="+mn-lt"/>
              </a:rPr>
              <a:t>ser </a:t>
            </a:r>
            <a:r>
              <a:rPr lang="en-ZA" b="0" u="sng" dirty="0">
                <a:latin typeface="+mn-lt"/>
              </a:rPr>
              <a:t>L</a:t>
            </a:r>
            <a:r>
              <a:rPr lang="en-ZA" b="0" dirty="0">
                <a:latin typeface="+mn-lt"/>
              </a:rPr>
              <a:t>icence </a:t>
            </a:r>
            <a:r>
              <a:rPr lang="en-ZA" b="0" i="1" u="sng" dirty="0">
                <a:latin typeface="+mn-lt"/>
              </a:rPr>
              <a:t>A</a:t>
            </a:r>
            <a:r>
              <a:rPr lang="en-ZA" b="0" dirty="0">
                <a:latin typeface="+mn-lt"/>
              </a:rPr>
              <a:t>greements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83568" y="4221088"/>
            <a:ext cx="4769950" cy="15121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Licensing agreements</a:t>
            </a:r>
            <a:endParaRPr lang="en-ZA" dirty="0"/>
          </a:p>
        </p:txBody>
      </p:sp>
      <p:sp>
        <p:nvSpPr>
          <p:cNvPr id="9" name="Action Button: Home 7">
            <a:hlinkClick r:id="rId4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990654" y="1719234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Software piracy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7620" y="2557754"/>
            <a:ext cx="48188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Illegal installation, copying and distributing of proprietary software.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7620" y="3775319"/>
            <a:ext cx="50348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Most software now requires activating or registering online in an attempt to crack down on software piracy.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7620" y="5269110"/>
            <a:ext cx="50348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Software piracy is a crime and can result in hefty fines or even jail time!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8674" y="2857496"/>
            <a:ext cx="2643206" cy="2611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1699660" y="2928934"/>
            <a:ext cx="1000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8800" dirty="0">
                <a:solidFill>
                  <a:srgbClr val="FF0000"/>
                </a:solidFill>
                <a:latin typeface="+mn-lt"/>
                <a:sym typeface="Wingdings"/>
              </a:rPr>
              <a:t></a:t>
            </a:r>
            <a:endParaRPr lang="en-ZA" sz="8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Licensing agreements</a:t>
            </a:r>
            <a:endParaRPr lang="en-ZA" dirty="0"/>
          </a:p>
        </p:txBody>
      </p:sp>
      <p:sp>
        <p:nvSpPr>
          <p:cNvPr id="11" name="Action Button: Home 7">
            <a:hlinkClick r:id="rId4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964454" y="1733682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Single user licence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4477" y="3132682"/>
            <a:ext cx="40201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This generally means that you may only install </a:t>
            </a:r>
            <a:r>
              <a:rPr lang="en-ZA" sz="2400" b="0" dirty="0">
                <a:solidFill>
                  <a:srgbClr val="FF0000"/>
                </a:solidFill>
                <a:latin typeface="+mn-lt"/>
              </a:rPr>
              <a:t>ONE</a:t>
            </a:r>
            <a:r>
              <a:rPr lang="en-ZA" sz="2400" b="0" dirty="0">
                <a:latin typeface="+mn-lt"/>
              </a:rPr>
              <a:t> copy of the software.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4162" y="5225270"/>
            <a:ext cx="67504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You can also usually make one </a:t>
            </a:r>
            <a:r>
              <a:rPr lang="en-ZA" sz="2400" b="0" dirty="0">
                <a:solidFill>
                  <a:srgbClr val="FF0000"/>
                </a:solidFill>
                <a:latin typeface="+mn-lt"/>
              </a:rPr>
              <a:t>backup copy </a:t>
            </a:r>
            <a:r>
              <a:rPr lang="en-ZA" sz="2400" b="0" dirty="0">
                <a:latin typeface="+mn-lt"/>
              </a:rPr>
              <a:t>of the media (CD or DVD) that contained the software.</a:t>
            </a:r>
          </a:p>
        </p:txBody>
      </p:sp>
      <p:pic>
        <p:nvPicPr>
          <p:cNvPr id="12" name="Picture 11" descr="library com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331640" y="2763330"/>
            <a:ext cx="2714644" cy="19390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Licensing agreements</a:t>
            </a:r>
            <a:endParaRPr lang="en-ZA" dirty="0"/>
          </a:p>
        </p:txBody>
      </p:sp>
      <p:sp>
        <p:nvSpPr>
          <p:cNvPr id="13" name="Action Button: Home 7">
            <a:hlinkClick r:id="rId4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38758" y="1733682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Site licence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8573" y="2747089"/>
            <a:ext cx="40987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Unrestricted number of installations within the company or organisation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0226" y="4049581"/>
            <a:ext cx="42662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More expensive than a single licence, but cheaper than buying single copy for each computer</a:t>
            </a:r>
          </a:p>
        </p:txBody>
      </p:sp>
      <p:pic>
        <p:nvPicPr>
          <p:cNvPr id="13" name="Picture 12" descr="IMG_085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608" y="2802315"/>
            <a:ext cx="3120066" cy="2340050"/>
          </a:xfrm>
          <a:prstGeom prst="roundRect">
            <a:avLst>
              <a:gd name="adj" fmla="val 1574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Licensing agreements</a:t>
            </a:r>
            <a:endParaRPr lang="en-ZA" dirty="0"/>
          </a:p>
        </p:txBody>
      </p:sp>
      <p:sp>
        <p:nvSpPr>
          <p:cNvPr id="4" name="TextBox 3"/>
          <p:cNvSpPr txBox="1"/>
          <p:nvPr/>
        </p:nvSpPr>
        <p:spPr>
          <a:xfrm>
            <a:off x="2283757" y="5795323"/>
            <a:ext cx="4444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0" dirty="0"/>
              <a:t>(Also referred to as </a:t>
            </a:r>
            <a:r>
              <a:rPr lang="en-ZA" b="0" dirty="0">
                <a:solidFill>
                  <a:srgbClr val="FF0000"/>
                </a:solidFill>
              </a:rPr>
              <a:t>Volume licencing</a:t>
            </a:r>
            <a:r>
              <a:rPr lang="en-ZA" b="0" dirty="0"/>
              <a:t>)</a:t>
            </a:r>
            <a:endParaRPr lang="en-US" dirty="0"/>
          </a:p>
        </p:txBody>
      </p:sp>
      <p:sp>
        <p:nvSpPr>
          <p:cNvPr id="14" name="Action Button: Home 7">
            <a:hlinkClick r:id="rId4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956504" y="1710401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Freeware and Shareware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8690" y="2985897"/>
            <a:ext cx="4533866" cy="70788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b="0" dirty="0"/>
              <a:t>Fully functioning software that can be used and copied without any restrictions </a:t>
            </a:r>
          </a:p>
        </p:txBody>
      </p:sp>
      <p:sp>
        <p:nvSpPr>
          <p:cNvPr id="13" name="Left Arrow 12"/>
          <p:cNvSpPr/>
          <p:nvPr/>
        </p:nvSpPr>
        <p:spPr bwMode="auto">
          <a:xfrm flipH="1">
            <a:off x="956504" y="2674966"/>
            <a:ext cx="3091899" cy="1329748"/>
          </a:xfrm>
          <a:prstGeom prst="leftArrow">
            <a:avLst>
              <a:gd name="adj1" fmla="val 42775"/>
              <a:gd name="adj2" fmla="val 58987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FREEWARE</a:t>
            </a:r>
          </a:p>
        </p:txBody>
      </p:sp>
      <p:sp>
        <p:nvSpPr>
          <p:cNvPr id="15" name="Left Arrow 14"/>
          <p:cNvSpPr/>
          <p:nvPr/>
        </p:nvSpPr>
        <p:spPr bwMode="auto">
          <a:xfrm flipH="1">
            <a:off x="956502" y="4429544"/>
            <a:ext cx="3091899" cy="1297109"/>
          </a:xfrm>
          <a:prstGeom prst="leftArrow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dirty="0">
                <a:solidFill>
                  <a:schemeClr val="tx1"/>
                </a:solidFill>
                <a:latin typeface="Arial" charset="0"/>
              </a:rPr>
              <a:t>SHAREWARE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8690" y="4403214"/>
            <a:ext cx="4498521" cy="13234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b="0" dirty="0"/>
              <a:t>Software that you can download free and use for a trial period for free.  After the trial period, or to get the ‘full’ version, you need to pay for it.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Free software</a:t>
            </a:r>
            <a:endParaRPr lang="en-ZA" dirty="0"/>
          </a:p>
        </p:txBody>
      </p:sp>
      <p:sp>
        <p:nvSpPr>
          <p:cNvPr id="11" name="Action Button: Home 7">
            <a:hlinkClick r:id="rId3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00100" y="1717480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Open source software (OSS)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8354" y="2453987"/>
            <a:ext cx="75357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latin typeface="+mn-lt"/>
              </a:rPr>
              <a:t>Software that may be freely used, modified and distributed,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but not sold. </a:t>
            </a:r>
            <a:endParaRPr lang="en-ZA" sz="2400" b="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58354" y="3366710"/>
            <a:ext cx="4572000" cy="33547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en-ZA" sz="2400" dirty="0">
                <a:latin typeface="+mn-lt"/>
              </a:rPr>
              <a:t>Examples of open source software: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Linux operating system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Office suites OpenOffice </a:t>
            </a:r>
            <a:br>
              <a:rPr lang="en-ZA" sz="2400" b="0" dirty="0">
                <a:latin typeface="+mn-lt"/>
              </a:rPr>
            </a:br>
            <a:r>
              <a:rPr lang="en-ZA" sz="2400" b="0" dirty="0">
                <a:latin typeface="+mn-lt"/>
              </a:rPr>
              <a:t>and LibreOffice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Java programming language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MySQL database system</a:t>
            </a:r>
          </a:p>
          <a:p>
            <a:endParaRPr lang="en-ZA" sz="2400" dirty="0">
              <a:latin typeface="+mn-lt"/>
            </a:endParaRPr>
          </a:p>
        </p:txBody>
      </p:sp>
      <p:pic>
        <p:nvPicPr>
          <p:cNvPr id="21" name="Picture 20" descr="linux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0708" y="3206634"/>
            <a:ext cx="2217420" cy="1318260"/>
          </a:xfrm>
          <a:prstGeom prst="ellipse">
            <a:avLst/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Picture 21" descr="OPEN-OFFIC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92080" y="4135328"/>
            <a:ext cx="1223008" cy="1223008"/>
          </a:xfrm>
          <a:prstGeom prst="ellipse">
            <a:avLst/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Picture 22" descr="libr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06526" y="4349642"/>
            <a:ext cx="1500198" cy="9892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Picture 23" descr="java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292344" y="5135460"/>
            <a:ext cx="1143008" cy="944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5" name="Picture 24" descr="Logo-mysql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863584" y="5278336"/>
            <a:ext cx="1216152" cy="8869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Free software</a:t>
            </a:r>
            <a:endParaRPr lang="en-ZA" dirty="0"/>
          </a:p>
        </p:txBody>
      </p:sp>
      <p:sp>
        <p:nvSpPr>
          <p:cNvPr id="13" name="Action Button: Home 7">
            <a:hlinkClick r:id="rId8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38758" y="1720631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Open source software – cont.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608" y="2752928"/>
            <a:ext cx="7160333" cy="3483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ZA" sz="2400" dirty="0">
                <a:latin typeface="+mn-lt"/>
              </a:rPr>
              <a:t>Potential disadvantages of open source software: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No guarantee of quality or that it works correctly 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Often many different versions of the same product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Can generally only get it from the internet – downloads can use a lot of data and take some time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Not as widely used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Documentation and support may not be easy to access</a:t>
            </a:r>
            <a:endParaRPr lang="en-ZA" sz="240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Free software</a:t>
            </a:r>
            <a:endParaRPr lang="en-ZA" dirty="0"/>
          </a:p>
        </p:txBody>
      </p:sp>
      <p:sp>
        <p:nvSpPr>
          <p:cNvPr id="7" name="Action Button: Home 7">
            <a:hlinkClick r:id="rId3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938758" y="1739143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Copyright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0641" y="2662213"/>
            <a:ext cx="721766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Copyright:</a:t>
            </a:r>
            <a:r>
              <a:rPr lang="en-ZA" sz="2400" b="0" dirty="0">
                <a:latin typeface="+mn-lt"/>
              </a:rPr>
              <a:t> refers to the legal right to make copies, publish and sell. </a:t>
            </a:r>
          </a:p>
          <a:p>
            <a:endParaRPr lang="en-ZA" sz="2400" b="0" dirty="0">
              <a:latin typeface="+mn-lt"/>
            </a:endParaRPr>
          </a:p>
          <a:p>
            <a:r>
              <a:rPr lang="en-ZA" sz="2400" dirty="0">
                <a:latin typeface="+mn-lt"/>
              </a:rPr>
              <a:t>Intellectual property: </a:t>
            </a:r>
            <a:r>
              <a:rPr lang="en-ZA" sz="2400" b="0" dirty="0">
                <a:latin typeface="+mn-lt"/>
              </a:rPr>
              <a:t>broader concept – recognises the ownership of the person that came up with the original idea or thought. </a:t>
            </a:r>
          </a:p>
          <a:p>
            <a:endParaRPr lang="en-ZA" sz="2400" b="0" dirty="0">
              <a:latin typeface="+mn-lt"/>
            </a:endParaRPr>
          </a:p>
          <a:p>
            <a:r>
              <a:rPr lang="en-ZA" sz="2400" dirty="0">
                <a:latin typeface="+mn-lt"/>
              </a:rPr>
              <a:t>Creative Commons: </a:t>
            </a:r>
            <a:r>
              <a:rPr lang="en-ZA" sz="2400" b="0" dirty="0">
                <a:latin typeface="+mn-lt"/>
              </a:rPr>
              <a:t>non-profit organisation that promotes the sharing and free use of knowledge and products legally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2456" y="-357207"/>
            <a:ext cx="1091966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ZA" sz="13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</a:rPr>
              <a:t>©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Free software</a:t>
            </a:r>
            <a:endParaRPr lang="en-ZA" dirty="0"/>
          </a:p>
        </p:txBody>
      </p:sp>
      <p:sp>
        <p:nvSpPr>
          <p:cNvPr id="10" name="Action Button: Home 7">
            <a:hlinkClick r:id="rId3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978828" y="1731590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Utility programs</a:t>
            </a:r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938758" y="2450400"/>
            <a:ext cx="39549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Compression software</a:t>
            </a:r>
            <a:endParaRPr kumimoji="0" lang="en-ZA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828" y="3127362"/>
            <a:ext cx="72132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Used to make a compressed (smaller) version of a file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pSp>
        <p:nvGrpSpPr>
          <p:cNvPr id="38914" name="Group 11"/>
          <p:cNvGrpSpPr>
            <a:grpSpLocks/>
          </p:cNvGrpSpPr>
          <p:nvPr/>
        </p:nvGrpSpPr>
        <p:grpSpPr bwMode="auto">
          <a:xfrm>
            <a:off x="937401" y="3945893"/>
            <a:ext cx="7811063" cy="2437384"/>
            <a:chOff x="0" y="4479"/>
            <a:chExt cx="52098" cy="15520"/>
          </a:xfrm>
        </p:grpSpPr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0" y="4479"/>
              <a:ext cx="19265" cy="15520"/>
              <a:chOff x="0" y="0"/>
              <a:chExt cx="19269" cy="15520"/>
            </a:xfrm>
          </p:grpSpPr>
          <p:pic>
            <p:nvPicPr>
              <p:cNvPr id="11" name="Picture 48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0" y="0"/>
                <a:ext cx="19269" cy="12642"/>
              </a:xfrm>
              <a:prstGeom prst="rect">
                <a:avLst/>
              </a:prstGeom>
              <a:noFill/>
              <a:ln w="9525">
                <a:solidFill>
                  <a:srgbClr val="D8D8D8"/>
                </a:solidFill>
                <a:miter lim="800000"/>
                <a:headEnd/>
                <a:tailEnd/>
              </a:ln>
            </p:spPr>
          </p:pic>
          <p:sp>
            <p:nvSpPr>
              <p:cNvPr id="12" name="Curved Up Arrow 5"/>
              <p:cNvSpPr>
                <a:spLocks noChangeArrowheads="1"/>
              </p:cNvSpPr>
              <p:nvPr/>
            </p:nvSpPr>
            <p:spPr bwMode="auto">
              <a:xfrm>
                <a:off x="4541" y="13132"/>
                <a:ext cx="9144" cy="2388"/>
              </a:xfrm>
              <a:prstGeom prst="curvedUpArrow">
                <a:avLst>
                  <a:gd name="adj1" fmla="val 24996"/>
                  <a:gd name="adj2" fmla="val 49992"/>
                  <a:gd name="adj3" fmla="val 25000"/>
                </a:avLst>
              </a:prstGeom>
              <a:solidFill>
                <a:srgbClr val="BFBFBF"/>
              </a:solidFill>
              <a:ln w="25400">
                <a:solidFill>
                  <a:srgbClr val="D8D8D8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ZA" dirty="0">
                  <a:latin typeface="+mn-lt"/>
                </a:endParaRPr>
              </a:p>
            </p:txBody>
          </p:sp>
        </p:grpSp>
        <p:grpSp>
          <p:nvGrpSpPr>
            <p:cNvPr id="2" name="Group 7"/>
            <p:cNvGrpSpPr>
              <a:grpSpLocks/>
            </p:cNvGrpSpPr>
            <p:nvPr/>
          </p:nvGrpSpPr>
          <p:grpSpPr bwMode="auto">
            <a:xfrm>
              <a:off x="23504" y="8284"/>
              <a:ext cx="28594" cy="4045"/>
              <a:chOff x="0" y="0"/>
              <a:chExt cx="28598" cy="4050"/>
            </a:xfrm>
          </p:grpSpPr>
          <p:pic>
            <p:nvPicPr>
              <p:cNvPr id="5" name="Picture 3"/>
              <p:cNvPicPr>
                <a:picLocks noChangeAspect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700" y="0"/>
                <a:ext cx="25898" cy="4050"/>
              </a:xfrm>
              <a:prstGeom prst="rect">
                <a:avLst/>
              </a:prstGeom>
              <a:noFill/>
              <a:ln w="9525">
                <a:solidFill>
                  <a:srgbClr val="D8D8D8"/>
                </a:solidFill>
                <a:miter lim="800000"/>
                <a:headEnd/>
                <a:tailEnd/>
              </a:ln>
            </p:spPr>
          </p:pic>
          <p:sp>
            <p:nvSpPr>
              <p:cNvPr id="6" name="Curved Right Arrow 6"/>
              <p:cNvSpPr>
                <a:spLocks noChangeArrowheads="1"/>
              </p:cNvSpPr>
              <p:nvPr/>
            </p:nvSpPr>
            <p:spPr bwMode="auto">
              <a:xfrm>
                <a:off x="0" y="490"/>
                <a:ext cx="1656" cy="2946"/>
              </a:xfrm>
              <a:prstGeom prst="curvedRightArrow">
                <a:avLst>
                  <a:gd name="adj1" fmla="val 25013"/>
                  <a:gd name="adj2" fmla="val 50034"/>
                  <a:gd name="adj3" fmla="val 25000"/>
                </a:avLst>
              </a:prstGeom>
              <a:solidFill>
                <a:srgbClr val="D9D9D9"/>
              </a:solidFill>
              <a:ln w="25400">
                <a:solidFill>
                  <a:srgbClr val="D8D8D8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ZA" dirty="0">
                  <a:latin typeface="+mn-lt"/>
                </a:endParaRPr>
              </a:p>
            </p:txBody>
          </p:sp>
        </p:grpSp>
      </p:grpSp>
      <p:pic>
        <p:nvPicPr>
          <p:cNvPr id="19" name="Picture 1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375475"/>
            <a:ext cx="1738117" cy="662925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System software</a:t>
            </a:r>
            <a:endParaRPr lang="en-ZA" dirty="0"/>
          </a:p>
        </p:txBody>
      </p:sp>
      <p:sp>
        <p:nvSpPr>
          <p:cNvPr id="18" name="Action Button: Home 7">
            <a:hlinkClick r:id="rId6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27785" y="2765875"/>
            <a:ext cx="5184576" cy="1205460"/>
          </a:xfrm>
        </p:spPr>
        <p:txBody>
          <a:bodyPr/>
          <a:lstStyle/>
          <a:p>
            <a:r>
              <a:rPr lang="en-ZA" dirty="0"/>
              <a:t>Activity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627785" y="4149725"/>
            <a:ext cx="5832648" cy="588375"/>
          </a:xfrm>
        </p:spPr>
        <p:txBody>
          <a:bodyPr>
            <a:normAutofit fontScale="92500"/>
          </a:bodyPr>
          <a:lstStyle/>
          <a:p>
            <a:r>
              <a:rPr lang="en-ZA" sz="2000" dirty="0"/>
              <a:t>Compressing files and folders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000737" y="1718011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Utility programs</a:t>
            </a:r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1160728" y="2449544"/>
            <a:ext cx="23952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ZA" sz="2400" dirty="0">
                <a:latin typeface="+mn-lt"/>
              </a:rPr>
              <a:t>Backup utilities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4782" y="3017748"/>
            <a:ext cx="5073402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sz="2400" dirty="0">
                <a:latin typeface="+mn-lt"/>
              </a:rPr>
              <a:t>Backing up our files regularly is essential, because…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files can be accidentally deleted or overwritten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files can become corrupt by not shutting down properly, power failures or computer viruses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storage devices (disk drives) can fail</a:t>
            </a:r>
            <a:endParaRPr lang="en-ZA" sz="2400" dirty="0">
              <a:latin typeface="+mn-lt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pic>
        <p:nvPicPr>
          <p:cNvPr id="25" name="Picture 24" descr="backu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80709" y="3371791"/>
            <a:ext cx="2130544" cy="2130544"/>
          </a:xfrm>
          <a:prstGeom prst="roundRect">
            <a:avLst>
              <a:gd name="adj" fmla="val 164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System software</a:t>
            </a:r>
            <a:endParaRPr lang="en-ZA" dirty="0"/>
          </a:p>
        </p:txBody>
      </p:sp>
      <p:sp>
        <p:nvSpPr>
          <p:cNvPr id="11" name="Action Button: Home 7">
            <a:hlinkClick r:id="rId4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000068" y="1705952"/>
            <a:ext cx="7429552" cy="52322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/>
              <a:t>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6287" y="2466953"/>
            <a:ext cx="6664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Every piece of hardware – from </a:t>
            </a:r>
            <a:r>
              <a:rPr lang="en-ZA" sz="2400" b="0">
                <a:latin typeface="+mn-lt"/>
              </a:rPr>
              <a:t>a flash drive </a:t>
            </a:r>
            <a:r>
              <a:rPr lang="en-ZA" sz="2400" b="0" dirty="0">
                <a:latin typeface="+mn-lt"/>
              </a:rPr>
              <a:t>to a printer – is </a:t>
            </a:r>
            <a:r>
              <a:rPr lang="en-ZA" sz="2400" dirty="0">
                <a:latin typeface="+mn-lt"/>
              </a:rPr>
              <a:t>controlled</a:t>
            </a:r>
            <a:r>
              <a:rPr lang="en-ZA" sz="2400" b="0" dirty="0">
                <a:latin typeface="+mn-lt"/>
              </a:rPr>
              <a:t> by a driver.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Rectangle 16"/>
          <p:cNvSpPr/>
          <p:nvPr/>
        </p:nvSpPr>
        <p:spPr>
          <a:xfrm>
            <a:off x="1442814" y="3384628"/>
            <a:ext cx="61999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0" dirty="0">
                <a:latin typeface="+mn-lt"/>
              </a:rPr>
              <a:t>A driver is software that allows your computer to </a:t>
            </a:r>
            <a:r>
              <a:rPr lang="en-ZA" sz="2400" dirty="0">
                <a:latin typeface="+mn-lt"/>
              </a:rPr>
              <a:t>communicate</a:t>
            </a:r>
            <a:r>
              <a:rPr lang="en-ZA" sz="2400" b="0" dirty="0">
                <a:latin typeface="+mn-lt"/>
              </a:rPr>
              <a:t> with hardware or devices.</a:t>
            </a:r>
          </a:p>
        </p:txBody>
      </p:sp>
      <p:pic>
        <p:nvPicPr>
          <p:cNvPr id="20" name="Picture 19" descr="IMG_085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60949" y="4437111"/>
            <a:ext cx="2510044" cy="18825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 descr="128 flashdriv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19672" y="4602856"/>
            <a:ext cx="2304256" cy="15387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5400" dirty="0"/>
              <a:t>System software</a:t>
            </a:r>
            <a:endParaRPr lang="en-ZA" dirty="0"/>
          </a:p>
        </p:txBody>
      </p:sp>
      <p:sp>
        <p:nvSpPr>
          <p:cNvPr id="14" name="Action Button: Home 7">
            <a:hlinkClick r:id="rId5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80630340"/>
              </p:ext>
            </p:extLst>
          </p:nvPr>
        </p:nvGraphicFramePr>
        <p:xfrm>
          <a:off x="762000" y="2060848"/>
          <a:ext cx="7482408" cy="4284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/>
              <a:t>Test </a:t>
            </a:r>
            <a:r>
              <a:rPr lang="en-ZA" sz="5400"/>
              <a:t>and improve</a:t>
            </a:r>
            <a:endParaRPr lang="en-ZA" dirty="0"/>
          </a:p>
        </p:txBody>
      </p:sp>
      <p:sp>
        <p:nvSpPr>
          <p:cNvPr id="10" name="Action Button: Home 7">
            <a:hlinkClick r:id="rId8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158591" y="2027964"/>
            <a:ext cx="4968552" cy="2789636"/>
          </a:xfrm>
        </p:spPr>
        <p:txBody>
          <a:bodyPr/>
          <a:lstStyle/>
          <a:p>
            <a:r>
              <a:rPr lang="en-ZA" dirty="0"/>
              <a:t>Written module activity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Action Button: Home 7">
            <a:hlinkClick r:id="rId3" action="ppaction://hlinksldjump" highlightClick="1"/>
          </p:cNvPr>
          <p:cNvSpPr/>
          <p:nvPr/>
        </p:nvSpPr>
        <p:spPr bwMode="auto">
          <a:xfrm>
            <a:off x="9427" y="6438377"/>
            <a:ext cx="467544" cy="426399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9258</TotalTime>
  <Words>755</Words>
  <Application>Microsoft Office PowerPoint</Application>
  <PresentationFormat>On-screen Show (4:3)</PresentationFormat>
  <Paragraphs>130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Impact</vt:lpstr>
      <vt:lpstr>Wingdings</vt:lpstr>
      <vt:lpstr>Badge</vt:lpstr>
      <vt:lpstr>Module 1.6  Extended software concepts</vt:lpstr>
      <vt:lpstr>Contents</vt:lpstr>
      <vt:lpstr>integrated software</vt:lpstr>
      <vt:lpstr>Licensing agreements</vt:lpstr>
      <vt:lpstr>Licensing agreements</vt:lpstr>
      <vt:lpstr>Licensing agreements</vt:lpstr>
      <vt:lpstr>Licensing agreements</vt:lpstr>
      <vt:lpstr>Free software</vt:lpstr>
      <vt:lpstr>Free software</vt:lpstr>
      <vt:lpstr>Free software</vt:lpstr>
      <vt:lpstr>Free software</vt:lpstr>
      <vt:lpstr>System software</vt:lpstr>
      <vt:lpstr>Activity 1</vt:lpstr>
      <vt:lpstr>System software</vt:lpstr>
      <vt:lpstr>System software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1.6  Extended software concepts</dc:title>
  <cp:lastModifiedBy>Sandra Jacobs</cp:lastModifiedBy>
  <cp:revision>3</cp:revision>
  <dcterms:created xsi:type="dcterms:W3CDTF">2011-06-18T17:42:40Z</dcterms:created>
  <dcterms:modified xsi:type="dcterms:W3CDTF">2017-01-21T10:06:44Z</dcterms:modified>
</cp:coreProperties>
</file>