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1" r:id="rId1"/>
  </p:sldMasterIdLst>
  <p:notesMasterIdLst>
    <p:notesMasterId r:id="rId16"/>
  </p:notesMasterIdLst>
  <p:sldIdLst>
    <p:sldId id="257" r:id="rId2"/>
    <p:sldId id="296" r:id="rId3"/>
    <p:sldId id="288" r:id="rId4"/>
    <p:sldId id="318" r:id="rId5"/>
    <p:sldId id="297" r:id="rId6"/>
    <p:sldId id="334" r:id="rId7"/>
    <p:sldId id="335" r:id="rId8"/>
    <p:sldId id="339" r:id="rId9"/>
    <p:sldId id="340" r:id="rId10"/>
    <p:sldId id="336" r:id="rId11"/>
    <p:sldId id="337" r:id="rId12"/>
    <p:sldId id="319" r:id="rId13"/>
    <p:sldId id="313" r:id="rId14"/>
    <p:sldId id="314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00"/>
    <a:srgbClr val="33CCFF"/>
    <a:srgbClr val="FF5050"/>
    <a:srgbClr val="FF0000"/>
    <a:srgbClr val="CC3300"/>
    <a:srgbClr val="0066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9" autoAdjust="0"/>
    <p:restoredTop sz="91569" autoAdjust="0"/>
  </p:normalViewPr>
  <p:slideViewPr>
    <p:cSldViewPr>
      <p:cViewPr varScale="1">
        <p:scale>
          <a:sx n="101" d="100"/>
          <a:sy n="101" d="100"/>
        </p:scale>
        <p:origin x="183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7336CE-4758-477A-8CF8-F83AA6AF8A7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2C10AFA-7A4B-432A-833C-89DA5A3BA64F}">
      <dgm:prSet phldrT="[Text]"/>
      <dgm:spPr/>
      <dgm:t>
        <a:bodyPr/>
        <a:lstStyle/>
        <a:p>
          <a:r>
            <a:rPr lang="en-US" dirty="0"/>
            <a:t>Network</a:t>
          </a:r>
        </a:p>
      </dgm:t>
    </dgm:pt>
    <dgm:pt modelId="{DACC0535-8CFB-4B68-9808-4C65F069DDC4}" type="parTrans" cxnId="{426ED37B-9087-4DA0-AB72-84653AF33A08}">
      <dgm:prSet/>
      <dgm:spPr/>
      <dgm:t>
        <a:bodyPr/>
        <a:lstStyle/>
        <a:p>
          <a:endParaRPr lang="en-US"/>
        </a:p>
      </dgm:t>
    </dgm:pt>
    <dgm:pt modelId="{174869B0-3DC9-4D8F-8054-DDECF6CBAB35}" type="sibTrans" cxnId="{426ED37B-9087-4DA0-AB72-84653AF33A08}">
      <dgm:prSet/>
      <dgm:spPr/>
      <dgm:t>
        <a:bodyPr/>
        <a:lstStyle/>
        <a:p>
          <a:endParaRPr lang="en-US"/>
        </a:p>
      </dgm:t>
    </dgm:pt>
    <dgm:pt modelId="{41DE5108-3B3F-40FA-980B-ADEDD1DDFFDA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Server</a:t>
          </a:r>
        </a:p>
      </dgm:t>
    </dgm:pt>
    <dgm:pt modelId="{D25880FF-01C1-42EE-9C3C-E41140A2EEBA}" type="parTrans" cxnId="{37220C85-70B3-41EB-9B5B-924C38198295}">
      <dgm:prSet/>
      <dgm:spPr/>
      <dgm:t>
        <a:bodyPr/>
        <a:lstStyle/>
        <a:p>
          <a:endParaRPr lang="en-US"/>
        </a:p>
      </dgm:t>
    </dgm:pt>
    <dgm:pt modelId="{9D8DD1AC-A821-478A-B4CA-C3B396B72BA1}" type="sibTrans" cxnId="{37220C85-70B3-41EB-9B5B-924C38198295}">
      <dgm:prSet/>
      <dgm:spPr/>
      <dgm:t>
        <a:bodyPr/>
        <a:lstStyle/>
        <a:p>
          <a:endParaRPr lang="en-US"/>
        </a:p>
      </dgm:t>
    </dgm:pt>
    <dgm:pt modelId="{89D75275-7B95-488B-A52C-0E74751D2774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/>
            <a:t>Internet</a:t>
          </a:r>
        </a:p>
      </dgm:t>
    </dgm:pt>
    <dgm:pt modelId="{E16319CF-5CD5-411E-8175-38C06DC3C1A0}" type="parTrans" cxnId="{4F263F1B-335C-4662-8E14-05B04AAA2B35}">
      <dgm:prSet/>
      <dgm:spPr/>
      <dgm:t>
        <a:bodyPr/>
        <a:lstStyle/>
        <a:p>
          <a:endParaRPr lang="en-US"/>
        </a:p>
      </dgm:t>
    </dgm:pt>
    <dgm:pt modelId="{BE6278FD-7945-4020-9721-9500EE3388AF}" type="sibTrans" cxnId="{4F263F1B-335C-4662-8E14-05B04AAA2B35}">
      <dgm:prSet/>
      <dgm:spPr/>
      <dgm:t>
        <a:bodyPr/>
        <a:lstStyle/>
        <a:p>
          <a:endParaRPr lang="en-US"/>
        </a:p>
      </dgm:t>
    </dgm:pt>
    <dgm:pt modelId="{128C47DA-8FD0-4CCC-8637-93BE285701E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Advantages</a:t>
          </a:r>
        </a:p>
      </dgm:t>
    </dgm:pt>
    <dgm:pt modelId="{CEF105DF-25D3-4B87-AAEA-83519C9964A8}" type="parTrans" cxnId="{29553C72-B677-4886-8D66-060FFA9C3DDC}">
      <dgm:prSet/>
      <dgm:spPr/>
      <dgm:t>
        <a:bodyPr/>
        <a:lstStyle/>
        <a:p>
          <a:endParaRPr lang="en-US"/>
        </a:p>
      </dgm:t>
    </dgm:pt>
    <dgm:pt modelId="{5DC5C249-2C94-403C-8174-D68E93F49CE1}" type="sibTrans" cxnId="{29553C72-B677-4886-8D66-060FFA9C3DDC}">
      <dgm:prSet/>
      <dgm:spPr/>
      <dgm:t>
        <a:bodyPr/>
        <a:lstStyle/>
        <a:p>
          <a:endParaRPr lang="en-US"/>
        </a:p>
      </dgm:t>
    </dgm:pt>
    <dgm:pt modelId="{4EF6F69E-7AE6-40AE-A44C-7F105A7C130B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Disadvantages</a:t>
          </a:r>
        </a:p>
      </dgm:t>
    </dgm:pt>
    <dgm:pt modelId="{910492E9-E7F9-48D8-8E6C-D9240A1D5B2E}" type="parTrans" cxnId="{87690BC9-C494-48F4-B078-BAF122E3D1D8}">
      <dgm:prSet/>
      <dgm:spPr/>
      <dgm:t>
        <a:bodyPr/>
        <a:lstStyle/>
        <a:p>
          <a:endParaRPr lang="en-US"/>
        </a:p>
      </dgm:t>
    </dgm:pt>
    <dgm:pt modelId="{5E19909F-ECCC-48A2-B0D4-5D734A8ED129}" type="sibTrans" cxnId="{87690BC9-C494-48F4-B078-BAF122E3D1D8}">
      <dgm:prSet/>
      <dgm:spPr/>
      <dgm:t>
        <a:bodyPr/>
        <a:lstStyle/>
        <a:p>
          <a:endParaRPr lang="en-US"/>
        </a:p>
      </dgm:t>
    </dgm:pt>
    <dgm:pt modelId="{97AAC8B5-D903-43A1-9CD6-609E876D91E1}" type="pres">
      <dgm:prSet presAssocID="{D57336CE-4758-477A-8CF8-F83AA6AF8A71}" presName="diagram" presStyleCnt="0">
        <dgm:presLayoutVars>
          <dgm:dir/>
          <dgm:resizeHandles val="exact"/>
        </dgm:presLayoutVars>
      </dgm:prSet>
      <dgm:spPr/>
    </dgm:pt>
    <dgm:pt modelId="{96AF0E54-2170-4241-BD02-61AA105A2866}" type="pres">
      <dgm:prSet presAssocID="{F2C10AFA-7A4B-432A-833C-89DA5A3BA64F}" presName="node" presStyleLbl="node1" presStyleIdx="0" presStyleCnt="5" custScaleX="110440" custLinFactNeighborX="-20691" custLinFactNeighborY="1478">
        <dgm:presLayoutVars>
          <dgm:bulletEnabled val="1"/>
        </dgm:presLayoutVars>
      </dgm:prSet>
      <dgm:spPr/>
    </dgm:pt>
    <dgm:pt modelId="{B00CC43A-EF79-498A-96F9-CAA8E5C57D18}" type="pres">
      <dgm:prSet presAssocID="{174869B0-3DC9-4D8F-8054-DDECF6CBAB35}" presName="sibTrans" presStyleCnt="0"/>
      <dgm:spPr/>
    </dgm:pt>
    <dgm:pt modelId="{BA25F220-567C-4017-B5D8-599CDBEB8CF3}" type="pres">
      <dgm:prSet presAssocID="{41DE5108-3B3F-40FA-980B-ADEDD1DDFFDA}" presName="node" presStyleLbl="node1" presStyleIdx="1" presStyleCnt="5" custScaleX="110431" custLinFactX="-41122" custLinFactY="11226" custLinFactNeighborX="-100000" custLinFactNeighborY="100000">
        <dgm:presLayoutVars>
          <dgm:bulletEnabled val="1"/>
        </dgm:presLayoutVars>
      </dgm:prSet>
      <dgm:spPr/>
    </dgm:pt>
    <dgm:pt modelId="{F55AA0E4-E264-4369-9D07-682D64EFEF3D}" type="pres">
      <dgm:prSet presAssocID="{9D8DD1AC-A821-478A-B4CA-C3B396B72BA1}" presName="sibTrans" presStyleCnt="0"/>
      <dgm:spPr/>
    </dgm:pt>
    <dgm:pt modelId="{8E087CBE-8D96-42F3-A2B6-F2B477A41BBC}" type="pres">
      <dgm:prSet presAssocID="{89D75275-7B95-488B-A52C-0E74751D2774}" presName="node" presStyleLbl="node1" presStyleIdx="2" presStyleCnt="5" custScaleX="110431" custLinFactY="4568" custLinFactNeighborX="-25768" custLinFactNeighborY="100000">
        <dgm:presLayoutVars>
          <dgm:bulletEnabled val="1"/>
        </dgm:presLayoutVars>
      </dgm:prSet>
      <dgm:spPr/>
    </dgm:pt>
    <dgm:pt modelId="{6F2871C0-4873-4EFB-8EB4-4F45F18CDCEB}" type="pres">
      <dgm:prSet presAssocID="{BE6278FD-7945-4020-9721-9500EE3388AF}" presName="sibTrans" presStyleCnt="0"/>
      <dgm:spPr/>
    </dgm:pt>
    <dgm:pt modelId="{08A47AD4-6DE3-4F50-A56B-298D7B630685}" type="pres">
      <dgm:prSet presAssocID="{128C47DA-8FD0-4CCC-8637-93BE285701ED}" presName="node" presStyleLbl="node1" presStyleIdx="3" presStyleCnt="5" custLinFactNeighborX="20464" custLinFactNeighborY="-62179">
        <dgm:presLayoutVars>
          <dgm:bulletEnabled val="1"/>
        </dgm:presLayoutVars>
      </dgm:prSet>
      <dgm:spPr/>
    </dgm:pt>
    <dgm:pt modelId="{4F4961FB-F90C-4557-867B-22AF5E34C608}" type="pres">
      <dgm:prSet presAssocID="{5DC5C249-2C94-403C-8174-D68E93F49CE1}" presName="sibTrans" presStyleCnt="0"/>
      <dgm:spPr/>
    </dgm:pt>
    <dgm:pt modelId="{BA350DAA-5F3E-4B4D-BAE6-F52FC4C3196C}" type="pres">
      <dgm:prSet presAssocID="{4EF6F69E-7AE6-40AE-A44C-7F105A7C130B}" presName="node" presStyleLbl="node1" presStyleIdx="4" presStyleCnt="5" custLinFactNeighborX="80679" custLinFactNeighborY="-64369">
        <dgm:presLayoutVars>
          <dgm:bulletEnabled val="1"/>
        </dgm:presLayoutVars>
      </dgm:prSet>
      <dgm:spPr/>
    </dgm:pt>
  </dgm:ptLst>
  <dgm:cxnLst>
    <dgm:cxn modelId="{426ED37B-9087-4DA0-AB72-84653AF33A08}" srcId="{D57336CE-4758-477A-8CF8-F83AA6AF8A71}" destId="{F2C10AFA-7A4B-432A-833C-89DA5A3BA64F}" srcOrd="0" destOrd="0" parTransId="{DACC0535-8CFB-4B68-9808-4C65F069DDC4}" sibTransId="{174869B0-3DC9-4D8F-8054-DDECF6CBAB35}"/>
    <dgm:cxn modelId="{29553C72-B677-4886-8D66-060FFA9C3DDC}" srcId="{D57336CE-4758-477A-8CF8-F83AA6AF8A71}" destId="{128C47DA-8FD0-4CCC-8637-93BE285701ED}" srcOrd="3" destOrd="0" parTransId="{CEF105DF-25D3-4B87-AAEA-83519C9964A8}" sibTransId="{5DC5C249-2C94-403C-8174-D68E93F49CE1}"/>
    <dgm:cxn modelId="{BE7CA677-1D55-4455-A3A0-13885AC900F0}" type="presOf" srcId="{89D75275-7B95-488B-A52C-0E74751D2774}" destId="{8E087CBE-8D96-42F3-A2B6-F2B477A41BBC}" srcOrd="0" destOrd="0" presId="urn:microsoft.com/office/officeart/2005/8/layout/default"/>
    <dgm:cxn modelId="{00B1F331-A0CD-40CF-BCCD-889543637AE4}" type="presOf" srcId="{41DE5108-3B3F-40FA-980B-ADEDD1DDFFDA}" destId="{BA25F220-567C-4017-B5D8-599CDBEB8CF3}" srcOrd="0" destOrd="0" presId="urn:microsoft.com/office/officeart/2005/8/layout/default"/>
    <dgm:cxn modelId="{3A14A1A5-654C-4A7C-9EE1-464DB0319178}" type="presOf" srcId="{D57336CE-4758-477A-8CF8-F83AA6AF8A71}" destId="{97AAC8B5-D903-43A1-9CD6-609E876D91E1}" srcOrd="0" destOrd="0" presId="urn:microsoft.com/office/officeart/2005/8/layout/default"/>
    <dgm:cxn modelId="{37220C85-70B3-41EB-9B5B-924C38198295}" srcId="{D57336CE-4758-477A-8CF8-F83AA6AF8A71}" destId="{41DE5108-3B3F-40FA-980B-ADEDD1DDFFDA}" srcOrd="1" destOrd="0" parTransId="{D25880FF-01C1-42EE-9C3C-E41140A2EEBA}" sibTransId="{9D8DD1AC-A821-478A-B4CA-C3B396B72BA1}"/>
    <dgm:cxn modelId="{4652A79D-F037-4B16-811D-41B3991BEF00}" type="presOf" srcId="{128C47DA-8FD0-4CCC-8637-93BE285701ED}" destId="{08A47AD4-6DE3-4F50-A56B-298D7B630685}" srcOrd="0" destOrd="0" presId="urn:microsoft.com/office/officeart/2005/8/layout/default"/>
    <dgm:cxn modelId="{4F263F1B-335C-4662-8E14-05B04AAA2B35}" srcId="{D57336CE-4758-477A-8CF8-F83AA6AF8A71}" destId="{89D75275-7B95-488B-A52C-0E74751D2774}" srcOrd="2" destOrd="0" parTransId="{E16319CF-5CD5-411E-8175-38C06DC3C1A0}" sibTransId="{BE6278FD-7945-4020-9721-9500EE3388AF}"/>
    <dgm:cxn modelId="{A9201E19-D975-481A-B266-08D13D2636E8}" type="presOf" srcId="{4EF6F69E-7AE6-40AE-A44C-7F105A7C130B}" destId="{BA350DAA-5F3E-4B4D-BAE6-F52FC4C3196C}" srcOrd="0" destOrd="0" presId="urn:microsoft.com/office/officeart/2005/8/layout/default"/>
    <dgm:cxn modelId="{DEE921FF-CD65-4B23-9C71-572D975A97DD}" type="presOf" srcId="{F2C10AFA-7A4B-432A-833C-89DA5A3BA64F}" destId="{96AF0E54-2170-4241-BD02-61AA105A2866}" srcOrd="0" destOrd="0" presId="urn:microsoft.com/office/officeart/2005/8/layout/default"/>
    <dgm:cxn modelId="{87690BC9-C494-48F4-B078-BAF122E3D1D8}" srcId="{D57336CE-4758-477A-8CF8-F83AA6AF8A71}" destId="{4EF6F69E-7AE6-40AE-A44C-7F105A7C130B}" srcOrd="4" destOrd="0" parTransId="{910492E9-E7F9-48D8-8E6C-D9240A1D5B2E}" sibTransId="{5E19909F-ECCC-48A2-B0D4-5D734A8ED129}"/>
    <dgm:cxn modelId="{67A3EF5D-DB31-4E4F-8B77-7298530790EE}" type="presParOf" srcId="{97AAC8B5-D903-43A1-9CD6-609E876D91E1}" destId="{96AF0E54-2170-4241-BD02-61AA105A2866}" srcOrd="0" destOrd="0" presId="urn:microsoft.com/office/officeart/2005/8/layout/default"/>
    <dgm:cxn modelId="{0F0430C0-658C-416C-9E24-234654B8B879}" type="presParOf" srcId="{97AAC8B5-D903-43A1-9CD6-609E876D91E1}" destId="{B00CC43A-EF79-498A-96F9-CAA8E5C57D18}" srcOrd="1" destOrd="0" presId="urn:microsoft.com/office/officeart/2005/8/layout/default"/>
    <dgm:cxn modelId="{6780284B-5F1F-462D-AC77-57BE1570C799}" type="presParOf" srcId="{97AAC8B5-D903-43A1-9CD6-609E876D91E1}" destId="{BA25F220-567C-4017-B5D8-599CDBEB8CF3}" srcOrd="2" destOrd="0" presId="urn:microsoft.com/office/officeart/2005/8/layout/default"/>
    <dgm:cxn modelId="{2B0B696A-2147-4D16-A3CC-7E74EDA51EC4}" type="presParOf" srcId="{97AAC8B5-D903-43A1-9CD6-609E876D91E1}" destId="{F55AA0E4-E264-4369-9D07-682D64EFEF3D}" srcOrd="3" destOrd="0" presId="urn:microsoft.com/office/officeart/2005/8/layout/default"/>
    <dgm:cxn modelId="{2C2764D1-1DE1-4067-8C51-ECB2FA251BC1}" type="presParOf" srcId="{97AAC8B5-D903-43A1-9CD6-609E876D91E1}" destId="{8E087CBE-8D96-42F3-A2B6-F2B477A41BBC}" srcOrd="4" destOrd="0" presId="urn:microsoft.com/office/officeart/2005/8/layout/default"/>
    <dgm:cxn modelId="{F317C918-EE92-4BF1-B646-E3AAC523CB6A}" type="presParOf" srcId="{97AAC8B5-D903-43A1-9CD6-609E876D91E1}" destId="{6F2871C0-4873-4EFB-8EB4-4F45F18CDCEB}" srcOrd="5" destOrd="0" presId="urn:microsoft.com/office/officeart/2005/8/layout/default"/>
    <dgm:cxn modelId="{AF6F1C5B-FD0B-4E5A-A961-2AD9A313C29E}" type="presParOf" srcId="{97AAC8B5-D903-43A1-9CD6-609E876D91E1}" destId="{08A47AD4-6DE3-4F50-A56B-298D7B630685}" srcOrd="6" destOrd="0" presId="urn:microsoft.com/office/officeart/2005/8/layout/default"/>
    <dgm:cxn modelId="{850E9F8F-7DF4-44D9-93BF-B874C0F27FD0}" type="presParOf" srcId="{97AAC8B5-D903-43A1-9CD6-609E876D91E1}" destId="{4F4961FB-F90C-4557-867B-22AF5E34C608}" srcOrd="7" destOrd="0" presId="urn:microsoft.com/office/officeart/2005/8/layout/default"/>
    <dgm:cxn modelId="{F8E81DA4-8700-4198-9992-7437B6805FF8}" type="presParOf" srcId="{97AAC8B5-D903-43A1-9CD6-609E876D91E1}" destId="{BA350DAA-5F3E-4B4D-BAE6-F52FC4C3196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AF0E54-2170-4241-BD02-61AA105A2866}">
      <dsp:nvSpPr>
        <dsp:cNvPr id="0" name=""/>
        <dsp:cNvSpPr/>
      </dsp:nvSpPr>
      <dsp:spPr>
        <a:xfrm>
          <a:off x="355590" y="18510"/>
          <a:ext cx="2116343" cy="11497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Network</a:t>
          </a:r>
        </a:p>
      </dsp:txBody>
      <dsp:txXfrm>
        <a:off x="355590" y="18510"/>
        <a:ext cx="2116343" cy="1149769"/>
      </dsp:txXfrm>
    </dsp:sp>
    <dsp:sp modelId="{BA25F220-567C-4017-B5D8-599CDBEB8CF3}">
      <dsp:nvSpPr>
        <dsp:cNvPr id="0" name=""/>
        <dsp:cNvSpPr/>
      </dsp:nvSpPr>
      <dsp:spPr>
        <a:xfrm>
          <a:off x="355763" y="1280359"/>
          <a:ext cx="2116170" cy="1149769"/>
        </a:xfrm>
        <a:prstGeom prst="rect">
          <a:avLst/>
        </a:prstGeom>
        <a:solidFill>
          <a:srgbClr val="0070C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Server</a:t>
          </a:r>
        </a:p>
      </dsp:txBody>
      <dsp:txXfrm>
        <a:off x="355763" y="1280359"/>
        <a:ext cx="2116170" cy="1149769"/>
      </dsp:txXfrm>
    </dsp:sp>
    <dsp:sp modelId="{8E087CBE-8D96-42F3-A2B6-F2B477A41BBC}">
      <dsp:nvSpPr>
        <dsp:cNvPr id="0" name=""/>
        <dsp:cNvSpPr/>
      </dsp:nvSpPr>
      <dsp:spPr>
        <a:xfrm>
          <a:off x="358331" y="2545206"/>
          <a:ext cx="2116170" cy="1149769"/>
        </a:xfrm>
        <a:prstGeom prst="rect">
          <a:avLst/>
        </a:prstGeom>
        <a:solidFill>
          <a:schemeClr val="accent4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Internet</a:t>
          </a:r>
        </a:p>
      </dsp:txBody>
      <dsp:txXfrm>
        <a:off x="358331" y="2545206"/>
        <a:ext cx="2116170" cy="1149769"/>
      </dsp:txXfrm>
    </dsp:sp>
    <dsp:sp modelId="{08A47AD4-6DE3-4F50-A56B-298D7B630685}">
      <dsp:nvSpPr>
        <dsp:cNvPr id="0" name=""/>
        <dsp:cNvSpPr/>
      </dsp:nvSpPr>
      <dsp:spPr>
        <a:xfrm>
          <a:off x="3552066" y="627999"/>
          <a:ext cx="1916283" cy="1149769"/>
        </a:xfrm>
        <a:prstGeom prst="rect">
          <a:avLst/>
        </a:prstGeom>
        <a:solidFill>
          <a:srgbClr val="00B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Advantages</a:t>
          </a:r>
        </a:p>
      </dsp:txBody>
      <dsp:txXfrm>
        <a:off x="3552066" y="627999"/>
        <a:ext cx="1916283" cy="1149769"/>
      </dsp:txXfrm>
    </dsp:sp>
    <dsp:sp modelId="{BA350DAA-5F3E-4B4D-BAE6-F52FC4C3196C}">
      <dsp:nvSpPr>
        <dsp:cNvPr id="0" name=""/>
        <dsp:cNvSpPr/>
      </dsp:nvSpPr>
      <dsp:spPr>
        <a:xfrm>
          <a:off x="3552056" y="1944217"/>
          <a:ext cx="1916283" cy="1149769"/>
        </a:xfrm>
        <a:prstGeom prst="rect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Disadvantages</a:t>
          </a:r>
        </a:p>
      </dsp:txBody>
      <dsp:txXfrm>
        <a:off x="3552056" y="1944217"/>
        <a:ext cx="1916283" cy="1149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‘LAN parties’ (LANing) are popular activities where people get together and play games on a network. Even though they are called LAN parties, they don't always stop at local area networks, sometimes including people across the world using </a:t>
            </a:r>
            <a:r>
              <a:rPr lang="en-ZA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internet. LAN </a:t>
            </a:r>
            <a:r>
              <a:rPr lang="en-Z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competitions have also become popular where teams from different schools compete against one another. </a:t>
            </a:r>
          </a:p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Z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Purpose of this exercise:</a:t>
            </a:r>
          </a:p>
          <a:p>
            <a:pPr marL="0" indent="0">
              <a:buFont typeface="+mj-lt"/>
              <a:buNone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+mj-lt"/>
              <a:buNone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Testing knowledge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this module.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140968"/>
            <a:ext cx="5113083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15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903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06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425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483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306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872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05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832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9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411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30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088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327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262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7151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73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51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5.xml"/><Relationship Id="rId7" Type="http://schemas.openxmlformats.org/officeDocument/2006/relationships/slide" Target="slide13.xml"/><Relationship Id="rId12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11" Type="http://schemas.openxmlformats.org/officeDocument/2006/relationships/slide" Target="slide10.xml"/><Relationship Id="rId5" Type="http://schemas.openxmlformats.org/officeDocument/2006/relationships/slide" Target="slide7.xml"/><Relationship Id="rId10" Type="http://schemas.openxmlformats.org/officeDocument/2006/relationships/slide" Target="slide9.xml"/><Relationship Id="rId4" Type="http://schemas.openxmlformats.org/officeDocument/2006/relationships/slide" Target="slide6.xml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0.wmf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slide" Target="slide2.xml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Relationship Id="rId9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835696" y="2146269"/>
            <a:ext cx="5308866" cy="257887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Module 2.1</a:t>
            </a:r>
            <a:br>
              <a:rPr lang="en-US" dirty="0"/>
            </a:br>
            <a:r>
              <a:rPr lang="en-US" sz="1600" dirty="0"/>
              <a:t> </a:t>
            </a:r>
            <a:br>
              <a:rPr lang="en-US" dirty="0"/>
            </a:br>
            <a:r>
              <a:rPr lang="en-ZA" dirty="0"/>
              <a:t>Introducing networks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45980">
            <a:off x="6686248" y="3971484"/>
            <a:ext cx="1366052" cy="194915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71054" y="1700808"/>
            <a:ext cx="3888978" cy="41044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2000" dirty="0">
                <a:hlinkClick r:id="rId2" action="ppaction://hlinksldjump"/>
              </a:rPr>
              <a:t>What is a network?</a:t>
            </a:r>
            <a:endParaRPr lang="en-ZA" sz="2000" dirty="0"/>
          </a:p>
          <a:p>
            <a:pPr marL="0" indent="0">
              <a:buNone/>
            </a:pPr>
            <a:r>
              <a:rPr lang="en-ZA" sz="2000" dirty="0">
                <a:hlinkClick r:id="rId3" action="ppaction://hlinksldjump"/>
              </a:rPr>
              <a:t>Advantages of networks</a:t>
            </a:r>
            <a:endParaRPr lang="en-ZA" sz="2000" dirty="0"/>
          </a:p>
          <a:p>
            <a:pPr lvl="1"/>
            <a:r>
              <a:rPr lang="en-US" dirty="0">
                <a:hlinkClick r:id="rId3" action="ppaction://hlinksldjump"/>
              </a:rPr>
              <a:t>Fast, efficient communication</a:t>
            </a:r>
            <a:endParaRPr lang="en-US" dirty="0"/>
          </a:p>
          <a:p>
            <a:pPr lvl="1"/>
            <a:r>
              <a:rPr lang="en-US" dirty="0">
                <a:hlinkClick r:id="rId4" action="ppaction://hlinksldjump"/>
              </a:rPr>
              <a:t>Sharing of hardware</a:t>
            </a:r>
            <a:endParaRPr lang="en-US" dirty="0"/>
          </a:p>
          <a:p>
            <a:pPr lvl="1"/>
            <a:r>
              <a:rPr lang="en-US" dirty="0">
                <a:hlinkClick r:id="rId5" action="ppaction://hlinksldjump"/>
              </a:rPr>
              <a:t>Sharing of files</a:t>
            </a:r>
            <a:endParaRPr lang="en-US" dirty="0"/>
          </a:p>
          <a:p>
            <a:pPr marL="0" indent="0">
              <a:spcBef>
                <a:spcPts val="1200"/>
              </a:spcBef>
              <a:buNone/>
            </a:pPr>
            <a:r>
              <a:rPr lang="en-ZA" sz="2000" dirty="0">
                <a:hlinkClick r:id="rId6" action="ppaction://hlinksldjump"/>
              </a:rPr>
              <a:t>Disadvantages of having a network</a:t>
            </a:r>
            <a:endParaRPr lang="en-ZA" sz="2000" dirty="0"/>
          </a:p>
          <a:p>
            <a:pPr marL="0" indent="0">
              <a:buNone/>
            </a:pPr>
            <a:r>
              <a:rPr lang="en-ZA" sz="2000" dirty="0">
                <a:hlinkClick r:id="rId7" action="ppaction://hlinksldjump"/>
              </a:rPr>
              <a:t>Test and improve</a:t>
            </a:r>
            <a:endParaRPr lang="en-ZA" sz="2000" dirty="0"/>
          </a:p>
          <a:p>
            <a:pPr marL="0" indent="0">
              <a:buNone/>
            </a:pPr>
            <a:r>
              <a:rPr lang="en-ZA" sz="2000">
                <a:hlinkClick r:id="rId8" action="ppaction://hlinksldjump"/>
              </a:rPr>
              <a:t>Written module activity </a:t>
            </a:r>
            <a:endParaRPr lang="en-ZA" sz="2000" dirty="0"/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899592" y="836713"/>
            <a:ext cx="7416824" cy="720080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chemeClr val="accent3">
                    <a:lumMod val="75000"/>
                  </a:schemeClr>
                </a:solidFill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11960" y="2606849"/>
            <a:ext cx="4248472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Bef>
                <a:spcPts val="0"/>
              </a:spcBef>
            </a:pPr>
            <a:r>
              <a:rPr lang="en-US" b="0" dirty="0">
                <a:hlinkClick r:id="rId9" action="ppaction://hlinksldjump"/>
              </a:rPr>
              <a:t>Centralisation of data</a:t>
            </a:r>
            <a:endParaRPr lang="en-US" b="0" dirty="0"/>
          </a:p>
          <a:p>
            <a:pPr lvl="1" fontAlgn="auto">
              <a:spcBef>
                <a:spcPts val="0"/>
              </a:spcBef>
            </a:pPr>
            <a:r>
              <a:rPr lang="en-US" b="0" dirty="0">
                <a:hlinkClick r:id="rId10" action="ppaction://hlinksldjump"/>
              </a:rPr>
              <a:t>Flexible access</a:t>
            </a:r>
            <a:endParaRPr lang="en-US" b="0" dirty="0"/>
          </a:p>
          <a:p>
            <a:pPr lvl="1" fontAlgn="auto">
              <a:spcBef>
                <a:spcPts val="0"/>
              </a:spcBef>
            </a:pPr>
            <a:r>
              <a:rPr lang="en-US" b="0" dirty="0">
                <a:hlinkClick r:id="rId11" action="ppaction://hlinksldjump"/>
              </a:rPr>
              <a:t>Leisure</a:t>
            </a:r>
            <a:endParaRPr lang="en-US" b="0" dirty="0"/>
          </a:p>
          <a:p>
            <a:pPr lvl="1" fontAlgn="auto">
              <a:spcBef>
                <a:spcPts val="0"/>
              </a:spcBef>
            </a:pPr>
            <a:r>
              <a:rPr lang="en-US" b="0" dirty="0">
                <a:hlinkClick r:id="rId12" action="ppaction://hlinksldjump"/>
              </a:rPr>
              <a:t>Increased control and security</a:t>
            </a:r>
            <a:endParaRPr lang="en-ZA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3" name="Rectangle 12"/>
          <p:cNvSpPr/>
          <p:nvPr/>
        </p:nvSpPr>
        <p:spPr>
          <a:xfrm>
            <a:off x="551241" y="1556792"/>
            <a:ext cx="80415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dirty="0">
                <a:latin typeface="+mn-lt"/>
              </a:rPr>
              <a:t>When two or more computers or mobile devices are</a:t>
            </a:r>
            <a:br>
              <a:rPr lang="en-ZA" dirty="0">
                <a:latin typeface="+mn-lt"/>
              </a:rPr>
            </a:br>
            <a:r>
              <a:rPr lang="en-ZA" dirty="0">
                <a:latin typeface="+mn-lt"/>
              </a:rPr>
              <a:t>connected to each other we have a network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446915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What is a network?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8184" y="3140448"/>
            <a:ext cx="1885353" cy="20910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564904"/>
            <a:ext cx="4788024" cy="319201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Action Button: Home 5">
            <a:hlinkClick r:id="rId6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23460" y="2397104"/>
            <a:ext cx="16730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>
                <a:latin typeface="+mn-lt"/>
              </a:rPr>
              <a:t>Local Area Networks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86213" y="2132856"/>
            <a:ext cx="21933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>
                <a:latin typeface="+mn-lt"/>
              </a:rPr>
              <a:t>Global Network</a:t>
            </a:r>
          </a:p>
          <a:p>
            <a:pPr algn="ctr"/>
            <a:r>
              <a:rPr lang="en-ZA" sz="2400" dirty="0">
                <a:solidFill>
                  <a:srgbClr val="FF0000"/>
                </a:solidFill>
                <a:latin typeface="+mn-lt"/>
              </a:rPr>
              <a:t>internet</a:t>
            </a:r>
            <a:r>
              <a:rPr lang="en-ZA" sz="2400" dirty="0">
                <a:latin typeface="+mn-lt"/>
              </a:rPr>
              <a:t> </a:t>
            </a:r>
          </a:p>
        </p:txBody>
      </p:sp>
      <p:pic>
        <p:nvPicPr>
          <p:cNvPr id="11" name="Picture 10" descr="class back lef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63216" y="1901978"/>
            <a:ext cx="2357422" cy="17680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 descr="library comp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5576" y="3875697"/>
            <a:ext cx="2428860" cy="18216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6" name="Picture 2" descr="C:\Program Files (x86)\Microsoft Office\MEDIA\CAGCAT10\j0335112.wmf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4151" t="21874" r="24864" b="27547"/>
          <a:stretch>
            <a:fillRect/>
          </a:stretch>
        </p:blipFill>
        <p:spPr bwMode="auto">
          <a:xfrm>
            <a:off x="5554132" y="3105325"/>
            <a:ext cx="2857520" cy="2834733"/>
          </a:xfrm>
          <a:prstGeom prst="ellipse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47480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What is a network?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" name="Action Button: Home 19">
            <a:hlinkClick r:id="rId6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778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5112568"/>
          </a:xfrm>
        </p:spPr>
        <p:txBody>
          <a:bodyPr/>
          <a:lstStyle/>
          <a:p>
            <a:pPr>
              <a:buNone/>
            </a:pPr>
            <a:endParaRPr lang="en-ZA" dirty="0"/>
          </a:p>
          <a:p>
            <a:endParaRPr lang="en-ZA" dirty="0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0" name="TextBox 9"/>
          <p:cNvSpPr txBox="1"/>
          <p:nvPr/>
        </p:nvSpPr>
        <p:spPr>
          <a:xfrm>
            <a:off x="395536" y="1378211"/>
            <a:ext cx="8318806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/>
              <a:t>Fast, efficient communication</a:t>
            </a:r>
            <a:endParaRPr lang="en-US" sz="3600" b="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3742" y="2805025"/>
            <a:ext cx="4559649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>
                <a:latin typeface="+mn-lt"/>
              </a:rPr>
              <a:t>School environment: </a:t>
            </a:r>
            <a:br>
              <a:rPr lang="en-ZA" sz="2400" b="0" dirty="0">
                <a:latin typeface="+mn-lt"/>
              </a:rPr>
            </a:br>
            <a:r>
              <a:rPr lang="en-ZA" sz="2400" b="0" dirty="0">
                <a:latin typeface="+mn-lt"/>
              </a:rPr>
              <a:t>email / SMS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Instant messages: </a:t>
            </a:r>
            <a:r>
              <a:rPr lang="en-US" sz="2400" b="0" dirty="0">
                <a:latin typeface="+mn-lt"/>
              </a:rPr>
              <a:t>WhatsApp / BBM / Messenger / WeChat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Social Networks: </a:t>
            </a:r>
            <a:br>
              <a:rPr lang="en-US" sz="2400" b="0" dirty="0">
                <a:latin typeface="+mn-lt"/>
              </a:rPr>
            </a:br>
            <a:r>
              <a:rPr lang="en-US" sz="2400" b="0" dirty="0">
                <a:latin typeface="+mn-lt"/>
              </a:rPr>
              <a:t>Facebook / Instagram</a:t>
            </a:r>
            <a:endParaRPr lang="en-ZA" sz="2400" b="0" dirty="0"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70180" y="3417197"/>
            <a:ext cx="3060733" cy="22306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78" t="82407" r="2256" b="7093"/>
          <a:stretch/>
        </p:blipFill>
        <p:spPr>
          <a:xfrm>
            <a:off x="6379975" y="2312756"/>
            <a:ext cx="1279899" cy="98453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Action Button: Home 13">
            <a:hlinkClick r:id="rId5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itle 16"/>
          <p:cNvSpPr>
            <a:spLocks noGrp="1"/>
          </p:cNvSpPr>
          <p:nvPr>
            <p:ph type="title"/>
          </p:nvPr>
        </p:nvSpPr>
        <p:spPr>
          <a:xfrm>
            <a:off x="1172633" y="392312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Advantages of networks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2633" y="392312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Advantages of networks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5112568"/>
          </a:xfrm>
        </p:spPr>
        <p:txBody>
          <a:bodyPr/>
          <a:lstStyle/>
          <a:p>
            <a:pPr>
              <a:buNone/>
            </a:pPr>
            <a:endParaRPr lang="en-ZA" dirty="0"/>
          </a:p>
          <a:p>
            <a:endParaRPr lang="en-ZA" dirty="0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/>
              <a:t>Sharing of hardware</a:t>
            </a:r>
            <a:endParaRPr lang="en-US" sz="3600" b="0" dirty="0">
              <a:latin typeface="+mj-lt"/>
            </a:endParaRPr>
          </a:p>
        </p:txBody>
      </p:sp>
      <p:pic>
        <p:nvPicPr>
          <p:cNvPr id="8" name="Picture 7" descr="printe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06079" y="2233324"/>
            <a:ext cx="2663074" cy="20002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Picture 8" descr="scanner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1843876" y="2233324"/>
            <a:ext cx="2405723" cy="20002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1763688" y="4453244"/>
            <a:ext cx="6104435" cy="1451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Equipment can be shared by users on a network – cheaper than buying a device for each computer.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>
                <a:latin typeface="+mn-lt"/>
              </a:rPr>
              <a:t>You can </a:t>
            </a:r>
            <a:r>
              <a:rPr lang="en-US" b="0" dirty="0">
                <a:latin typeface="+mn-lt"/>
              </a:rPr>
              <a:t>even print from your smartphone to any printer in the world!</a:t>
            </a:r>
            <a:endParaRPr lang="en-ZA" b="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9" name="Action Button: Home 18">
            <a:hlinkClick r:id="rId5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5112568"/>
          </a:xfrm>
        </p:spPr>
        <p:txBody>
          <a:bodyPr/>
          <a:lstStyle/>
          <a:p>
            <a:pPr>
              <a:buNone/>
            </a:pPr>
            <a:endParaRPr lang="en-ZA" dirty="0"/>
          </a:p>
          <a:p>
            <a:endParaRPr lang="en-ZA" dirty="0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8" name="Rectangle 27"/>
          <p:cNvSpPr/>
          <p:nvPr/>
        </p:nvSpPr>
        <p:spPr>
          <a:xfrm>
            <a:off x="1598035" y="4968048"/>
            <a:ext cx="571026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Files on a server can be accessed by learners,</a:t>
            </a:r>
            <a:br>
              <a:rPr lang="en-ZA" b="0" dirty="0">
                <a:latin typeface="+mn-lt"/>
              </a:rPr>
            </a:br>
            <a:r>
              <a:rPr lang="en-ZA" b="0" dirty="0">
                <a:latin typeface="+mn-lt"/>
              </a:rPr>
              <a:t>and teachers can retrieve learners’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Files can be saved in the ‘cloud’ – on a computer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connected to the internet</a:t>
            </a:r>
            <a:endParaRPr lang="en-ZA" b="0" dirty="0"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46" y="2115123"/>
            <a:ext cx="4605180" cy="28009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82671">
            <a:off x="6289031" y="2174657"/>
            <a:ext cx="2143125" cy="14192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91376">
            <a:off x="5667700" y="3554750"/>
            <a:ext cx="2230677" cy="120859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3" name="Action Button: Home 22">
            <a:hlinkClick r:id="rId6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Title 16"/>
          <p:cNvSpPr>
            <a:spLocks noGrp="1"/>
          </p:cNvSpPr>
          <p:nvPr>
            <p:ph type="title"/>
          </p:nvPr>
        </p:nvSpPr>
        <p:spPr>
          <a:xfrm>
            <a:off x="1172633" y="392312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Advantages of networks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/>
              <a:t>Sharing of files</a:t>
            </a:r>
            <a:endParaRPr lang="en-US" sz="3600" b="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3923928" y="263691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/>
          </a:p>
        </p:txBody>
      </p:sp>
      <p:sp>
        <p:nvSpPr>
          <p:cNvPr id="3" name="Rectangle 2"/>
          <p:cNvSpPr/>
          <p:nvPr/>
        </p:nvSpPr>
        <p:spPr>
          <a:xfrm>
            <a:off x="683568" y="2180033"/>
            <a:ext cx="5184576" cy="2877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200" b="0" dirty="0">
                <a:latin typeface="+mn-lt"/>
                <a:ea typeface="Calibri" panose="020F0502020204030204" pitchFamily="34" charset="0"/>
              </a:rPr>
              <a:t>Networking allows us to access files or folders on a central computer </a:t>
            </a:r>
            <a:r>
              <a:rPr lang="en-ZA" sz="2200" b="0" i="1" dirty="0">
                <a:latin typeface="+mn-lt"/>
                <a:ea typeface="Calibri" panose="020F0502020204030204" pitchFamily="34" charset="0"/>
              </a:rPr>
              <a:t>(as if these were actually on our own computer)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Databases ensure that multiple users cannot make conflicting changes to data </a:t>
            </a:r>
            <a:r>
              <a:rPr lang="en-US" sz="2200" b="0" i="1" dirty="0">
                <a:latin typeface="+mn-lt"/>
              </a:rPr>
              <a:t>(while also ensuring that changes made by users are immediately available to other users)</a:t>
            </a:r>
          </a:p>
        </p:txBody>
      </p:sp>
      <p:grpSp>
        <p:nvGrpSpPr>
          <p:cNvPr id="11" name="Group 10"/>
          <p:cNvGrpSpPr/>
          <p:nvPr/>
        </p:nvGrpSpPr>
        <p:grpSpPr>
          <a:xfrm rot="21076675">
            <a:off x="5925581" y="4313531"/>
            <a:ext cx="2369012" cy="792088"/>
            <a:chOff x="2491020" y="4581128"/>
            <a:chExt cx="2369012" cy="792088"/>
          </a:xfrm>
        </p:grpSpPr>
        <p:sp>
          <p:nvSpPr>
            <p:cNvPr id="10" name="Rectangle 9"/>
            <p:cNvSpPr/>
            <p:nvPr/>
          </p:nvSpPr>
          <p:spPr>
            <a:xfrm>
              <a:off x="2491020" y="4581128"/>
              <a:ext cx="1944216" cy="79208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THEATRE TICKET</a:t>
              </a:r>
              <a:endParaRPr lang="en-ZA" dirty="0"/>
            </a:p>
          </p:txBody>
        </p:sp>
        <p:sp>
          <p:nvSpPr>
            <p:cNvPr id="20" name="Rectangle 19"/>
            <p:cNvSpPr/>
            <p:nvPr/>
          </p:nvSpPr>
          <p:spPr>
            <a:xfrm rot="16200000">
              <a:off x="4251590" y="4764774"/>
              <a:ext cx="792088" cy="42479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ADMIT ONE</a:t>
              </a:r>
              <a:endParaRPr lang="en-ZA" sz="1200" dirty="0"/>
            </a:p>
          </p:txBody>
        </p:sp>
      </p:grpSp>
      <p:grpSp>
        <p:nvGrpSpPr>
          <p:cNvPr id="22" name="Group 21"/>
          <p:cNvGrpSpPr/>
          <p:nvPr/>
        </p:nvGrpSpPr>
        <p:grpSpPr>
          <a:xfrm rot="979603">
            <a:off x="5165139" y="5151130"/>
            <a:ext cx="2369013" cy="792088"/>
            <a:chOff x="2491019" y="4581128"/>
            <a:chExt cx="2369013" cy="792088"/>
          </a:xfrm>
        </p:grpSpPr>
        <p:sp>
          <p:nvSpPr>
            <p:cNvPr id="23" name="Rectangle 22"/>
            <p:cNvSpPr/>
            <p:nvPr/>
          </p:nvSpPr>
          <p:spPr>
            <a:xfrm>
              <a:off x="2491019" y="4581128"/>
              <a:ext cx="1944216" cy="79208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THEATRE TICKET</a:t>
              </a:r>
              <a:endParaRPr lang="en-ZA" dirty="0"/>
            </a:p>
          </p:txBody>
        </p:sp>
        <p:sp>
          <p:nvSpPr>
            <p:cNvPr id="24" name="Rectangle 23"/>
            <p:cNvSpPr/>
            <p:nvPr/>
          </p:nvSpPr>
          <p:spPr>
            <a:xfrm rot="16200000">
              <a:off x="4251590" y="4764774"/>
              <a:ext cx="792088" cy="42479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ADMIT ONE</a:t>
              </a:r>
              <a:endParaRPr lang="en-ZA" sz="1200" dirty="0"/>
            </a:p>
          </p:txBody>
        </p:sp>
      </p:grp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6" name="Action Button: Home 25">
            <a:hlinkClick r:id="rId2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Title 16"/>
          <p:cNvSpPr>
            <a:spLocks noGrp="1"/>
          </p:cNvSpPr>
          <p:nvPr>
            <p:ph type="title"/>
          </p:nvPr>
        </p:nvSpPr>
        <p:spPr>
          <a:xfrm>
            <a:off x="1172633" y="392312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Advantages of networks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>
                <a:latin typeface="+mj-lt"/>
              </a:rPr>
              <a:t>Centralisation of data</a:t>
            </a:r>
            <a:endParaRPr lang="en-US" sz="3600" b="0" dirty="0">
              <a:latin typeface="+mj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0826" y="5135985"/>
            <a:ext cx="36153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No two people can book the same seat in a theatre!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3923928" y="263691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/>
          </a:p>
        </p:txBody>
      </p:sp>
      <p:sp>
        <p:nvSpPr>
          <p:cNvPr id="3" name="Rectangle 2"/>
          <p:cNvSpPr/>
          <p:nvPr/>
        </p:nvSpPr>
        <p:spPr>
          <a:xfrm>
            <a:off x="683568" y="2204864"/>
            <a:ext cx="4968552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  <a:ea typeface="Calibri" panose="020F0502020204030204" pitchFamily="34" charset="0"/>
              </a:rPr>
              <a:t>We are not limited to the physical </a:t>
            </a:r>
            <a:br>
              <a:rPr lang="en-US" sz="2200" b="0" dirty="0">
                <a:latin typeface="+mn-lt"/>
                <a:ea typeface="Calibri" panose="020F0502020204030204" pitchFamily="34" charset="0"/>
              </a:rPr>
            </a:br>
            <a:r>
              <a:rPr lang="en-US" sz="2200" b="0" dirty="0">
                <a:latin typeface="+mn-lt"/>
                <a:ea typeface="Calibri" panose="020F0502020204030204" pitchFamily="34" charset="0"/>
              </a:rPr>
              <a:t>location of our computers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Using internet removes location-specific limit of a network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Use cloud storage to save &amp; ‘sync’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Internet banking can be done from home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787" y="2185535"/>
            <a:ext cx="2143125" cy="14192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188" y="4584427"/>
            <a:ext cx="2008658" cy="1004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103" y="4699422"/>
            <a:ext cx="1651403" cy="12017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1" name="Action Button: Home 20">
            <a:hlinkClick r:id="rId5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2633" y="392312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Advantages of networks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>
                <a:latin typeface="+mj-lt"/>
              </a:rPr>
              <a:t>Flexible access</a:t>
            </a:r>
            <a:endParaRPr lang="en-US" sz="3600" b="0" dirty="0"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196" y="5143227"/>
            <a:ext cx="1575607" cy="108716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737" y="3427054"/>
            <a:ext cx="2464128" cy="13350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14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172633" y="394727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Advantages of networks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5112568"/>
          </a:xfrm>
        </p:spPr>
        <p:txBody>
          <a:bodyPr/>
          <a:lstStyle/>
          <a:p>
            <a:pPr>
              <a:buNone/>
            </a:pPr>
            <a:endParaRPr lang="en-ZA" dirty="0"/>
          </a:p>
          <a:p>
            <a:endParaRPr lang="en-ZA" dirty="0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" name="TextBox 1"/>
          <p:cNvSpPr txBox="1"/>
          <p:nvPr/>
        </p:nvSpPr>
        <p:spPr>
          <a:xfrm>
            <a:off x="687574" y="2368618"/>
            <a:ext cx="467651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Radio, video and television can be ‘streamed live’ over the internet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E-books, online newspapers and magazines can be downloaded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Online gaming – play against others around the world (MMORPG)</a:t>
            </a:r>
            <a:endParaRPr lang="en-ZA" sz="2200" b="0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989" y="4939316"/>
            <a:ext cx="1462087" cy="109061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530" y="5071410"/>
            <a:ext cx="1653096" cy="95851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799" y="4495944"/>
            <a:ext cx="987018" cy="1293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522" y="4034577"/>
            <a:ext cx="1328992" cy="174867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931" y="2427067"/>
            <a:ext cx="1315886" cy="172386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522" y="2431160"/>
            <a:ext cx="1199175" cy="11991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8" name="Action Button: Home 17">
            <a:hlinkClick r:id="rId9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TextBox 15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>
                <a:latin typeface="+mj-lt"/>
              </a:rPr>
              <a:t>Leisure</a:t>
            </a:r>
            <a:endParaRPr lang="en-US" sz="3600" b="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" name="TextBox 1"/>
          <p:cNvSpPr txBox="1"/>
          <p:nvPr/>
        </p:nvSpPr>
        <p:spPr>
          <a:xfrm>
            <a:off x="755576" y="2210105"/>
            <a:ext cx="705678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Easier to control access to data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Data centrally stored – easier to make backups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Maintain integrity of data – update in one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Easier to send updates (e.g. anti-virus software) to all computers from one central computer</a:t>
            </a:r>
            <a:endParaRPr lang="en-ZA" sz="2200" b="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1150611" y="4260426"/>
            <a:ext cx="2503114" cy="190487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3694277" y="4260425"/>
            <a:ext cx="1179381" cy="89751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5083627" y="4258033"/>
            <a:ext cx="1179381" cy="89751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6472977" y="4237218"/>
            <a:ext cx="1179381" cy="89751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5083626" y="5212865"/>
            <a:ext cx="1179381" cy="89751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3694277" y="5200565"/>
            <a:ext cx="1179381" cy="89751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6488963" y="5205645"/>
            <a:ext cx="1179381" cy="897513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3059832" y="4509120"/>
            <a:ext cx="1368152" cy="17754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059832" y="4727558"/>
            <a:ext cx="2880320" cy="198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59832" y="4941168"/>
            <a:ext cx="424847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041657" y="5301208"/>
            <a:ext cx="1368152" cy="17754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041657" y="5496244"/>
            <a:ext cx="2880320" cy="198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041657" y="5676972"/>
            <a:ext cx="424847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1" name="Action Button: Home 40">
            <a:hlinkClick r:id="rId5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Title 16"/>
          <p:cNvSpPr>
            <a:spLocks noGrp="1"/>
          </p:cNvSpPr>
          <p:nvPr>
            <p:ph type="title"/>
          </p:nvPr>
        </p:nvSpPr>
        <p:spPr>
          <a:xfrm>
            <a:off x="1172633" y="392312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Advantages of networks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>
                <a:latin typeface="+mj-lt"/>
              </a:rPr>
              <a:t>Increased control and security</a:t>
            </a:r>
            <a:endParaRPr lang="en-US" sz="3600" b="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5663" y="397491"/>
            <a:ext cx="6798734" cy="1303867"/>
          </a:xfrm>
        </p:spPr>
        <p:txBody>
          <a:bodyPr>
            <a:normAutofit fontScale="90000"/>
          </a:bodyPr>
          <a:lstStyle/>
          <a:p>
            <a:r>
              <a:rPr lang="en-ZA" dirty="0">
                <a:solidFill>
                  <a:schemeClr val="accent3">
                    <a:lumMod val="75000"/>
                  </a:schemeClr>
                </a:solidFill>
              </a:rPr>
              <a:t>Disadvantages of having a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592" y="1681058"/>
            <a:ext cx="7272808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Learning curve – how to protect your privacy online and how to communicate safely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Can be expensive to set up and maintain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Confidential / sensitive information may be stolen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Harmful software can spread quickly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If network develops a problem, users might not be able to communicate or access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Central fault in network can cause loss of data </a:t>
            </a:r>
          </a:p>
          <a:p>
            <a:endParaRPr lang="en-ZA" b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2" name="Action Button: Home 31">
            <a:hlinkClick r:id="rId3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86625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430631"/>
            <a:ext cx="6798734" cy="1303867"/>
          </a:xfrm>
        </p:spPr>
        <p:txBody>
          <a:bodyPr/>
          <a:lstStyle/>
          <a:p>
            <a:r>
              <a:rPr lang="en-ZA" dirty="0">
                <a:solidFill>
                  <a:schemeClr val="accent3">
                    <a:lumMod val="75000"/>
                  </a:schemeClr>
                </a:solidFill>
              </a:rPr>
              <a:t>Test and improve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385976240"/>
              </p:ext>
            </p:extLst>
          </p:nvPr>
        </p:nvGraphicFramePr>
        <p:xfrm>
          <a:off x="1524000" y="2348880"/>
          <a:ext cx="5928320" cy="383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Action Button: Home 8">
            <a:hlinkClick r:id="rId8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>
                <a:latin typeface="+mj-lt"/>
              </a:rPr>
              <a:t>Summary – concepts, terms and tips</a:t>
            </a:r>
            <a:endParaRPr lang="en-US" sz="3600" b="0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Written module activity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8617</TotalTime>
  <Words>486</Words>
  <Application>Microsoft Office PowerPoint</Application>
  <PresentationFormat>On-screen Show (4:3)</PresentationFormat>
  <Paragraphs>101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Organic</vt:lpstr>
      <vt:lpstr>Module 2.1   Introducing networks</vt:lpstr>
      <vt:lpstr>Contents</vt:lpstr>
      <vt:lpstr>What is a network?</vt:lpstr>
      <vt:lpstr>What is a network?</vt:lpstr>
      <vt:lpstr>Advantages of networks</vt:lpstr>
      <vt:lpstr>Advantages of networks</vt:lpstr>
      <vt:lpstr>Advantages of networks</vt:lpstr>
      <vt:lpstr>Advantages of networks</vt:lpstr>
      <vt:lpstr>Advantages of networks</vt:lpstr>
      <vt:lpstr>Advantages of networks</vt:lpstr>
      <vt:lpstr>Advantages of networks</vt:lpstr>
      <vt:lpstr>Disadvantages of having a network</vt:lpstr>
      <vt:lpstr>Test and improve</vt:lpstr>
      <vt:lpstr>Written module activity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2.1   Introducing networks</dc:title>
  <cp:lastModifiedBy>Sandra Jacobs</cp:lastModifiedBy>
  <cp:revision>2</cp:revision>
  <dcterms:created xsi:type="dcterms:W3CDTF">2006-08-13T21:23:21Z</dcterms:created>
  <dcterms:modified xsi:type="dcterms:W3CDTF">2017-01-21T10:49:39Z</dcterms:modified>
</cp:coreProperties>
</file>