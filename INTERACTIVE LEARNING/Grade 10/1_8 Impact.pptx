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9" r:id="rId1"/>
  </p:sldMasterIdLst>
  <p:notesMasterIdLst>
    <p:notesMasterId r:id="rId20"/>
  </p:notesMasterIdLst>
  <p:sldIdLst>
    <p:sldId id="257" r:id="rId2"/>
    <p:sldId id="296" r:id="rId3"/>
    <p:sldId id="288" r:id="rId4"/>
    <p:sldId id="339" r:id="rId5"/>
    <p:sldId id="358" r:id="rId6"/>
    <p:sldId id="360" r:id="rId7"/>
    <p:sldId id="340" r:id="rId8"/>
    <p:sldId id="341" r:id="rId9"/>
    <p:sldId id="361" r:id="rId10"/>
    <p:sldId id="362" r:id="rId11"/>
    <p:sldId id="363" r:id="rId12"/>
    <p:sldId id="342" r:id="rId13"/>
    <p:sldId id="369" r:id="rId14"/>
    <p:sldId id="371" r:id="rId15"/>
    <p:sldId id="372" r:id="rId16"/>
    <p:sldId id="373" r:id="rId17"/>
    <p:sldId id="313" r:id="rId18"/>
    <p:sldId id="314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5050"/>
    <a:srgbClr val="66FF33"/>
    <a:srgbClr val="FF0000"/>
    <a:srgbClr val="00FF00"/>
    <a:srgbClr val="0066FF"/>
    <a:srgbClr val="33CC33"/>
    <a:srgbClr val="DAEDEF"/>
    <a:srgbClr val="000000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70" autoAdjust="0"/>
    <p:restoredTop sz="96370" autoAdjust="0"/>
  </p:normalViewPr>
  <p:slideViewPr>
    <p:cSldViewPr>
      <p:cViewPr varScale="1">
        <p:scale>
          <a:sx n="84" d="100"/>
          <a:sy n="84" d="100"/>
        </p:scale>
        <p:origin x="123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838B9F-18F8-458D-BF9C-E4B7D94775EC}" type="doc">
      <dgm:prSet loTypeId="urn:microsoft.com/office/officeart/2005/8/layout/default#1" loCatId="list" qsTypeId="urn:microsoft.com/office/officeart/2005/8/quickstyle/simple3" qsCatId="simple" csTypeId="urn:microsoft.com/office/officeart/2005/8/colors/accent0_2" csCatId="mainScheme" phldr="1"/>
      <dgm:spPr/>
      <dgm:t>
        <a:bodyPr/>
        <a:lstStyle/>
        <a:p>
          <a:endParaRPr lang="en-ZA"/>
        </a:p>
      </dgm:t>
    </dgm:pt>
    <dgm:pt modelId="{2F01AFB7-9698-4BF5-A514-315BB37ADCDD}">
      <dgm:prSet phldrT="[Text]"/>
      <dgm:spPr/>
      <dgm:t>
        <a:bodyPr/>
        <a:lstStyle/>
        <a:p>
          <a:r>
            <a:rPr lang="en-US" sz="2200" b="1" dirty="0"/>
            <a:t>Impact </a:t>
          </a:r>
          <a:r>
            <a:rPr lang="en-US" sz="2200" b="1"/>
            <a:t>on our lives and lifestyles</a:t>
          </a:r>
          <a:endParaRPr lang="en-ZA" sz="2200" b="1" dirty="0"/>
        </a:p>
      </dgm:t>
    </dgm:pt>
    <dgm:pt modelId="{0F378D8C-E838-49A8-B4F4-A2A7ADB2B167}" type="parTrans" cxnId="{12F6E0F3-C0BD-4B53-90F1-7908110104D5}">
      <dgm:prSet/>
      <dgm:spPr/>
      <dgm:t>
        <a:bodyPr/>
        <a:lstStyle/>
        <a:p>
          <a:endParaRPr lang="en-ZA"/>
        </a:p>
      </dgm:t>
    </dgm:pt>
    <dgm:pt modelId="{9FCD1B8D-5785-459D-8874-56E34BB5E36D}" type="sibTrans" cxnId="{12F6E0F3-C0BD-4B53-90F1-7908110104D5}">
      <dgm:prSet/>
      <dgm:spPr/>
      <dgm:t>
        <a:bodyPr/>
        <a:lstStyle/>
        <a:p>
          <a:endParaRPr lang="en-ZA"/>
        </a:p>
      </dgm:t>
    </dgm:pt>
    <dgm:pt modelId="{BDA6382E-7306-4345-B6EE-BC63E4C90C88}">
      <dgm:prSet phldrT="[Text]" custT="1"/>
      <dgm:spPr/>
      <dgm:t>
        <a:bodyPr/>
        <a:lstStyle/>
        <a:p>
          <a:r>
            <a:rPr lang="en-ZA" sz="2000" dirty="0"/>
            <a:t>Communication</a:t>
          </a:r>
        </a:p>
      </dgm:t>
    </dgm:pt>
    <dgm:pt modelId="{4EF6B7DB-1EE2-4E9A-9E54-C10636E1DE2A}" type="parTrans" cxnId="{8E13A2D9-4AC8-4D50-BA3E-F72C8162AFE0}">
      <dgm:prSet/>
      <dgm:spPr/>
      <dgm:t>
        <a:bodyPr/>
        <a:lstStyle/>
        <a:p>
          <a:endParaRPr lang="en-ZA"/>
        </a:p>
      </dgm:t>
    </dgm:pt>
    <dgm:pt modelId="{67BAF377-1307-415F-A392-BB1492F4FA83}" type="sibTrans" cxnId="{8E13A2D9-4AC8-4D50-BA3E-F72C8162AFE0}">
      <dgm:prSet/>
      <dgm:spPr/>
      <dgm:t>
        <a:bodyPr/>
        <a:lstStyle/>
        <a:p>
          <a:endParaRPr lang="en-ZA"/>
        </a:p>
      </dgm:t>
    </dgm:pt>
    <dgm:pt modelId="{AE9EAA4D-E12F-4CDE-A3E1-9197153BE902}">
      <dgm:prSet phldrT="[Text]"/>
      <dgm:spPr/>
      <dgm:t>
        <a:bodyPr/>
        <a:lstStyle/>
        <a:p>
          <a:r>
            <a:rPr lang="en-ZA" sz="2200" b="1"/>
            <a:t>Computer criminals</a:t>
          </a:r>
          <a:endParaRPr lang="en-ZA" sz="2200" b="1" dirty="0"/>
        </a:p>
      </dgm:t>
    </dgm:pt>
    <dgm:pt modelId="{76E8BF3D-9996-4061-B9A7-9CA0022F23E8}" type="parTrans" cxnId="{5D5826A1-76C0-4907-8579-30C8054C7E2B}">
      <dgm:prSet/>
      <dgm:spPr/>
      <dgm:t>
        <a:bodyPr/>
        <a:lstStyle/>
        <a:p>
          <a:endParaRPr lang="en-ZA"/>
        </a:p>
      </dgm:t>
    </dgm:pt>
    <dgm:pt modelId="{2C001A2A-C2B7-419B-9DEA-0153CABBD9A5}" type="sibTrans" cxnId="{5D5826A1-76C0-4907-8579-30C8054C7E2B}">
      <dgm:prSet/>
      <dgm:spPr/>
      <dgm:t>
        <a:bodyPr/>
        <a:lstStyle/>
        <a:p>
          <a:endParaRPr lang="en-ZA"/>
        </a:p>
      </dgm:t>
    </dgm:pt>
    <dgm:pt modelId="{34693BE5-7636-4E06-BB3C-09088F94A120}">
      <dgm:prSet phldrT="[Text]" custT="1"/>
      <dgm:spPr/>
      <dgm:t>
        <a:bodyPr/>
        <a:lstStyle/>
        <a:p>
          <a:r>
            <a:rPr lang="en-ZA" sz="1800"/>
            <a:t>Identity thieves</a:t>
          </a:r>
          <a:endParaRPr lang="en-ZA" sz="1800" dirty="0"/>
        </a:p>
      </dgm:t>
    </dgm:pt>
    <dgm:pt modelId="{AAFE0BBB-BD48-4B36-B43D-0C34E28FA2F6}" type="parTrans" cxnId="{F5FBCDF3-77D5-4538-8FA1-51B1393E9CEA}">
      <dgm:prSet/>
      <dgm:spPr/>
      <dgm:t>
        <a:bodyPr/>
        <a:lstStyle/>
        <a:p>
          <a:endParaRPr lang="en-ZA"/>
        </a:p>
      </dgm:t>
    </dgm:pt>
    <dgm:pt modelId="{6F5BDDA5-4E55-45D3-B00E-9E54A7BC8F86}" type="sibTrans" cxnId="{F5FBCDF3-77D5-4538-8FA1-51B1393E9CEA}">
      <dgm:prSet/>
      <dgm:spPr/>
      <dgm:t>
        <a:bodyPr/>
        <a:lstStyle/>
        <a:p>
          <a:endParaRPr lang="en-ZA"/>
        </a:p>
      </dgm:t>
    </dgm:pt>
    <dgm:pt modelId="{4311DB9E-89AC-44A6-846C-AE3F4C56FB33}">
      <dgm:prSet phldrT="[Text]" custT="1"/>
      <dgm:spPr/>
      <dgm:t>
        <a:bodyPr/>
        <a:lstStyle/>
        <a:p>
          <a:r>
            <a:rPr lang="en-ZA" sz="2000" dirty="0"/>
            <a:t>Over-availability</a:t>
          </a:r>
        </a:p>
      </dgm:t>
    </dgm:pt>
    <dgm:pt modelId="{60BAA223-D802-4BB7-A551-5525236A940B}" type="parTrans" cxnId="{EA5BADA4-C5B7-4059-9920-57DB6762CD23}">
      <dgm:prSet/>
      <dgm:spPr/>
      <dgm:t>
        <a:bodyPr/>
        <a:lstStyle/>
        <a:p>
          <a:endParaRPr lang="en-ZA"/>
        </a:p>
      </dgm:t>
    </dgm:pt>
    <dgm:pt modelId="{DF2A4E1F-1000-41D9-94BF-374DB3FFB383}" type="sibTrans" cxnId="{EA5BADA4-C5B7-4059-9920-57DB6762CD23}">
      <dgm:prSet/>
      <dgm:spPr/>
      <dgm:t>
        <a:bodyPr/>
        <a:lstStyle/>
        <a:p>
          <a:endParaRPr lang="en-ZA"/>
        </a:p>
      </dgm:t>
    </dgm:pt>
    <dgm:pt modelId="{A588AB1C-B744-40B4-9A00-094B5DC86017}">
      <dgm:prSet phldrT="[Text]" custT="1"/>
      <dgm:spPr/>
      <dgm:t>
        <a:bodyPr/>
        <a:lstStyle/>
        <a:p>
          <a:r>
            <a:rPr lang="en-ZA" sz="2000" dirty="0"/>
            <a:t>Leisure</a:t>
          </a:r>
        </a:p>
      </dgm:t>
    </dgm:pt>
    <dgm:pt modelId="{65E79ECE-7C2C-4F1C-9F13-C87005024F05}" type="parTrans" cxnId="{C7244FF7-2C8A-4E85-B789-B3A4D54E5E3B}">
      <dgm:prSet/>
      <dgm:spPr/>
      <dgm:t>
        <a:bodyPr/>
        <a:lstStyle/>
        <a:p>
          <a:endParaRPr lang="en-ZA"/>
        </a:p>
      </dgm:t>
    </dgm:pt>
    <dgm:pt modelId="{DDAA1768-C85F-45EE-A559-E90FA968B23A}" type="sibTrans" cxnId="{C7244FF7-2C8A-4E85-B789-B3A4D54E5E3B}">
      <dgm:prSet/>
      <dgm:spPr/>
      <dgm:t>
        <a:bodyPr/>
        <a:lstStyle/>
        <a:p>
          <a:endParaRPr lang="en-ZA"/>
        </a:p>
      </dgm:t>
    </dgm:pt>
    <dgm:pt modelId="{627E0264-19A3-4E64-AE8A-43D1CE478729}">
      <dgm:prSet phldrT="[Text]"/>
      <dgm:spPr/>
      <dgm:t>
        <a:bodyPr/>
        <a:lstStyle/>
        <a:p>
          <a:r>
            <a:rPr lang="en-ZA" sz="2200" b="1" dirty="0"/>
            <a:t>Impact on home office</a:t>
          </a:r>
        </a:p>
      </dgm:t>
    </dgm:pt>
    <dgm:pt modelId="{60D39A4A-50BB-47A1-9D21-D7D0E2105E47}" type="parTrans" cxnId="{50ED480E-1270-4E4E-940D-EA7A007A9E2F}">
      <dgm:prSet/>
      <dgm:spPr/>
      <dgm:t>
        <a:bodyPr/>
        <a:lstStyle/>
        <a:p>
          <a:endParaRPr lang="en-ZA"/>
        </a:p>
      </dgm:t>
    </dgm:pt>
    <dgm:pt modelId="{2466254C-D4B4-4F25-9423-12D9EE49E331}" type="sibTrans" cxnId="{50ED480E-1270-4E4E-940D-EA7A007A9E2F}">
      <dgm:prSet/>
      <dgm:spPr/>
      <dgm:t>
        <a:bodyPr/>
        <a:lstStyle/>
        <a:p>
          <a:endParaRPr lang="en-ZA"/>
        </a:p>
      </dgm:t>
    </dgm:pt>
    <dgm:pt modelId="{D5BC4C2B-2AFA-44B4-A2DB-F4125B63F8EA}">
      <dgm:prSet phldrT="[Text]" custT="1"/>
      <dgm:spPr/>
      <dgm:t>
        <a:bodyPr/>
        <a:lstStyle/>
        <a:p>
          <a:r>
            <a:rPr lang="en-ZA" sz="1800" b="0" dirty="0"/>
            <a:t>Scammers / Phishers</a:t>
          </a:r>
        </a:p>
      </dgm:t>
    </dgm:pt>
    <dgm:pt modelId="{8F394C76-63B4-456D-882D-EA7E9EA256D4}" type="parTrans" cxnId="{AEAFE63A-248F-42FD-B908-383B572A5209}">
      <dgm:prSet/>
      <dgm:spPr/>
      <dgm:t>
        <a:bodyPr/>
        <a:lstStyle/>
        <a:p>
          <a:endParaRPr lang="en-ZA"/>
        </a:p>
      </dgm:t>
    </dgm:pt>
    <dgm:pt modelId="{31EAB3D6-4D29-4769-ADCA-E6945DC265B6}" type="sibTrans" cxnId="{AEAFE63A-248F-42FD-B908-383B572A5209}">
      <dgm:prSet/>
      <dgm:spPr/>
      <dgm:t>
        <a:bodyPr/>
        <a:lstStyle/>
        <a:p>
          <a:endParaRPr lang="en-ZA"/>
        </a:p>
      </dgm:t>
    </dgm:pt>
    <dgm:pt modelId="{F4690F97-EEC3-4C29-BF2D-A468B9487E03}">
      <dgm:prSet phldrT="[Text]" custT="1"/>
      <dgm:spPr/>
      <dgm:t>
        <a:bodyPr/>
        <a:lstStyle/>
        <a:p>
          <a:r>
            <a:rPr lang="en-ZA" sz="1800"/>
            <a:t>Employees</a:t>
          </a:r>
          <a:endParaRPr lang="en-ZA" sz="1800" dirty="0"/>
        </a:p>
      </dgm:t>
    </dgm:pt>
    <dgm:pt modelId="{F6F81ECD-6707-4FC5-ADE5-D2284703E76B}" type="parTrans" cxnId="{1FB1ECF3-5CCE-4B12-9DD4-D010704F5D4C}">
      <dgm:prSet/>
      <dgm:spPr/>
      <dgm:t>
        <a:bodyPr/>
        <a:lstStyle/>
        <a:p>
          <a:endParaRPr lang="en-ZA"/>
        </a:p>
      </dgm:t>
    </dgm:pt>
    <dgm:pt modelId="{6AED6206-6FA6-4DF6-B870-502BAA049946}" type="sibTrans" cxnId="{1FB1ECF3-5CCE-4B12-9DD4-D010704F5D4C}">
      <dgm:prSet/>
      <dgm:spPr/>
      <dgm:t>
        <a:bodyPr/>
        <a:lstStyle/>
        <a:p>
          <a:endParaRPr lang="en-ZA"/>
        </a:p>
      </dgm:t>
    </dgm:pt>
    <dgm:pt modelId="{A0953768-7EC4-431A-9B71-40836C29CC9B}">
      <dgm:prSet phldrT="[Text]" custT="1"/>
      <dgm:spPr/>
      <dgm:t>
        <a:bodyPr/>
        <a:lstStyle/>
        <a:p>
          <a:r>
            <a:rPr lang="en-ZA" sz="1800"/>
            <a:t>Hackers and crackers</a:t>
          </a:r>
          <a:endParaRPr lang="en-ZA" sz="1800" dirty="0"/>
        </a:p>
      </dgm:t>
    </dgm:pt>
    <dgm:pt modelId="{1083FBCE-25D7-47C0-8A99-9F0467ACA4CF}" type="parTrans" cxnId="{B665A266-D2CF-4A3C-9B7A-E9CB3EC11BCB}">
      <dgm:prSet/>
      <dgm:spPr/>
      <dgm:t>
        <a:bodyPr/>
        <a:lstStyle/>
        <a:p>
          <a:endParaRPr lang="en-ZA"/>
        </a:p>
      </dgm:t>
    </dgm:pt>
    <dgm:pt modelId="{F04B8B06-F408-41C9-BDAD-59EC961F8F9C}" type="sibTrans" cxnId="{B665A266-D2CF-4A3C-9B7A-E9CB3EC11BCB}">
      <dgm:prSet/>
      <dgm:spPr/>
      <dgm:t>
        <a:bodyPr/>
        <a:lstStyle/>
        <a:p>
          <a:endParaRPr lang="en-ZA"/>
        </a:p>
      </dgm:t>
    </dgm:pt>
    <dgm:pt modelId="{E3BBC22C-8B46-4787-9FED-C4C7BC314052}">
      <dgm:prSet phldrT="[Text]" custT="1"/>
      <dgm:spPr/>
      <dgm:t>
        <a:bodyPr/>
        <a:lstStyle/>
        <a:p>
          <a:r>
            <a:rPr lang="en-ZA" sz="1800"/>
            <a:t>Organised crime</a:t>
          </a:r>
          <a:endParaRPr lang="en-ZA" sz="1800" dirty="0"/>
        </a:p>
      </dgm:t>
    </dgm:pt>
    <dgm:pt modelId="{92AE9B3C-C6C5-491B-B40B-544FCD29FCB8}" type="parTrans" cxnId="{1EFCEF50-778B-414A-94E8-ED45CF97E500}">
      <dgm:prSet/>
      <dgm:spPr/>
      <dgm:t>
        <a:bodyPr/>
        <a:lstStyle/>
        <a:p>
          <a:endParaRPr lang="en-ZA"/>
        </a:p>
      </dgm:t>
    </dgm:pt>
    <dgm:pt modelId="{185DE5AF-6064-4978-A395-7E5B69693AB8}" type="sibTrans" cxnId="{1EFCEF50-778B-414A-94E8-ED45CF97E500}">
      <dgm:prSet/>
      <dgm:spPr/>
      <dgm:t>
        <a:bodyPr/>
        <a:lstStyle/>
        <a:p>
          <a:endParaRPr lang="en-ZA"/>
        </a:p>
      </dgm:t>
    </dgm:pt>
    <dgm:pt modelId="{77CD83C3-0917-40F3-893A-DE3855E51BF7}">
      <dgm:prSet phldrT="[Text]"/>
      <dgm:spPr/>
      <dgm:t>
        <a:bodyPr/>
        <a:lstStyle/>
        <a:p>
          <a:r>
            <a:rPr lang="en-ZA" sz="2200" b="1"/>
            <a:t>Impact on education</a:t>
          </a:r>
          <a:endParaRPr lang="en-ZA" sz="2200" b="1" dirty="0"/>
        </a:p>
      </dgm:t>
    </dgm:pt>
    <dgm:pt modelId="{D78B7F34-E6C0-4CCF-A2B5-9C2BC7505ED3}" type="parTrans" cxnId="{BB3E2E98-11E4-49EA-8DBF-CF6791A5C264}">
      <dgm:prSet/>
      <dgm:spPr/>
      <dgm:t>
        <a:bodyPr/>
        <a:lstStyle/>
        <a:p>
          <a:endParaRPr lang="en-ZA"/>
        </a:p>
      </dgm:t>
    </dgm:pt>
    <dgm:pt modelId="{9DFDA043-A1E4-47D6-9DFA-B227C259BAA3}" type="sibTrans" cxnId="{BB3E2E98-11E4-49EA-8DBF-CF6791A5C264}">
      <dgm:prSet/>
      <dgm:spPr/>
      <dgm:t>
        <a:bodyPr/>
        <a:lstStyle/>
        <a:p>
          <a:endParaRPr lang="en-ZA"/>
        </a:p>
      </dgm:t>
    </dgm:pt>
    <dgm:pt modelId="{F23C2241-FE87-43D8-A09B-AD0E57965F69}">
      <dgm:prSet phldrT="[Text]" custT="1"/>
      <dgm:spPr/>
      <dgm:t>
        <a:bodyPr/>
        <a:lstStyle/>
        <a:p>
          <a:r>
            <a:rPr lang="en-ZA" sz="2000" dirty="0"/>
            <a:t>Management</a:t>
          </a:r>
        </a:p>
      </dgm:t>
    </dgm:pt>
    <dgm:pt modelId="{6AC27148-C4F9-4066-95F7-FFBCF6A7F40F}" type="parTrans" cxnId="{91360412-18C5-4B9E-B032-D10437F8D9B8}">
      <dgm:prSet/>
      <dgm:spPr/>
      <dgm:t>
        <a:bodyPr/>
        <a:lstStyle/>
        <a:p>
          <a:endParaRPr lang="en-ZA"/>
        </a:p>
      </dgm:t>
    </dgm:pt>
    <dgm:pt modelId="{8F4B7565-F8F2-4529-838A-1422C905A968}" type="sibTrans" cxnId="{91360412-18C5-4B9E-B032-D10437F8D9B8}">
      <dgm:prSet/>
      <dgm:spPr/>
      <dgm:t>
        <a:bodyPr/>
        <a:lstStyle/>
        <a:p>
          <a:endParaRPr lang="en-ZA"/>
        </a:p>
      </dgm:t>
    </dgm:pt>
    <dgm:pt modelId="{8B3A9A67-DAA3-422F-AEF3-B03F324EB45F}">
      <dgm:prSet phldrT="[Text]" custT="1"/>
      <dgm:spPr/>
      <dgm:t>
        <a:bodyPr/>
        <a:lstStyle/>
        <a:p>
          <a:r>
            <a:rPr lang="en-ZA" sz="2000" dirty="0"/>
            <a:t>Teachers </a:t>
          </a:r>
        </a:p>
      </dgm:t>
    </dgm:pt>
    <dgm:pt modelId="{7E3B5E4B-22FC-46F0-9EBF-9B9F0656BED1}" type="parTrans" cxnId="{6ED08187-FEA5-4D27-B6BE-DD7AA384F487}">
      <dgm:prSet/>
      <dgm:spPr/>
      <dgm:t>
        <a:bodyPr/>
        <a:lstStyle/>
        <a:p>
          <a:endParaRPr lang="en-ZA"/>
        </a:p>
      </dgm:t>
    </dgm:pt>
    <dgm:pt modelId="{B138B4CD-149B-4EFB-8F6A-2C1ABD33911B}" type="sibTrans" cxnId="{6ED08187-FEA5-4D27-B6BE-DD7AA384F487}">
      <dgm:prSet/>
      <dgm:spPr/>
      <dgm:t>
        <a:bodyPr/>
        <a:lstStyle/>
        <a:p>
          <a:endParaRPr lang="en-ZA"/>
        </a:p>
      </dgm:t>
    </dgm:pt>
    <dgm:pt modelId="{508FA4F6-4A13-4AFD-A4ED-A745E110E545}">
      <dgm:prSet phldrT="[Text]" custT="1"/>
      <dgm:spPr/>
      <dgm:t>
        <a:bodyPr/>
        <a:lstStyle/>
        <a:p>
          <a:r>
            <a:rPr lang="en-ZA" sz="2000" dirty="0"/>
            <a:t>Learners </a:t>
          </a:r>
        </a:p>
      </dgm:t>
    </dgm:pt>
    <dgm:pt modelId="{CF4E43F3-2AB6-4C5C-9292-F74D3869A53B}" type="parTrans" cxnId="{C9303BAA-F2AA-48FE-804C-CA69FE25A46B}">
      <dgm:prSet/>
      <dgm:spPr/>
      <dgm:t>
        <a:bodyPr/>
        <a:lstStyle/>
        <a:p>
          <a:endParaRPr lang="en-ZA"/>
        </a:p>
      </dgm:t>
    </dgm:pt>
    <dgm:pt modelId="{4F6FEBE5-BFBE-47BA-A211-0BEE685077B7}" type="sibTrans" cxnId="{C9303BAA-F2AA-48FE-804C-CA69FE25A46B}">
      <dgm:prSet/>
      <dgm:spPr/>
      <dgm:t>
        <a:bodyPr/>
        <a:lstStyle/>
        <a:p>
          <a:endParaRPr lang="en-ZA"/>
        </a:p>
      </dgm:t>
    </dgm:pt>
    <dgm:pt modelId="{4D153323-36A6-403C-9998-72F8282F550D}">
      <dgm:prSet phldrT="[Text]" custT="1"/>
      <dgm:spPr/>
      <dgm:t>
        <a:bodyPr/>
        <a:lstStyle/>
        <a:p>
          <a:r>
            <a:rPr lang="en-ZA" sz="2000" dirty="0"/>
            <a:t>Create own documents</a:t>
          </a:r>
        </a:p>
      </dgm:t>
    </dgm:pt>
    <dgm:pt modelId="{D7CCC108-9DE7-4876-9731-8F61F3D2A7E4}" type="parTrans" cxnId="{A30699F9-4721-4E45-AB19-10108C50ACEA}">
      <dgm:prSet/>
      <dgm:spPr/>
      <dgm:t>
        <a:bodyPr/>
        <a:lstStyle/>
        <a:p>
          <a:endParaRPr lang="en-ZA"/>
        </a:p>
      </dgm:t>
    </dgm:pt>
    <dgm:pt modelId="{F8C4D3CF-A051-43B8-ADD4-883FE9287377}" type="sibTrans" cxnId="{A30699F9-4721-4E45-AB19-10108C50ACEA}">
      <dgm:prSet/>
      <dgm:spPr/>
      <dgm:t>
        <a:bodyPr/>
        <a:lstStyle/>
        <a:p>
          <a:endParaRPr lang="en-ZA"/>
        </a:p>
      </dgm:t>
    </dgm:pt>
    <dgm:pt modelId="{A29B4B50-E1D9-463B-A50E-AE36E063354C}">
      <dgm:prSet phldrT="[Text]" custT="1"/>
      <dgm:spPr/>
      <dgm:t>
        <a:bodyPr/>
        <a:lstStyle/>
        <a:p>
          <a:r>
            <a:rPr lang="en-ZA" sz="2000" dirty="0"/>
            <a:t>Liaising – clients &amp; suppliers</a:t>
          </a:r>
        </a:p>
      </dgm:t>
    </dgm:pt>
    <dgm:pt modelId="{5F5EACDC-A386-4D18-91CD-553B8F9DC58F}" type="parTrans" cxnId="{7F80584A-CA4B-4567-8DBA-430CCCF01936}">
      <dgm:prSet/>
      <dgm:spPr/>
      <dgm:t>
        <a:bodyPr/>
        <a:lstStyle/>
        <a:p>
          <a:endParaRPr lang="en-ZA"/>
        </a:p>
      </dgm:t>
    </dgm:pt>
    <dgm:pt modelId="{DEF919BE-97ED-437F-BFC5-7468495147B1}" type="sibTrans" cxnId="{7F80584A-CA4B-4567-8DBA-430CCCF01936}">
      <dgm:prSet/>
      <dgm:spPr/>
      <dgm:t>
        <a:bodyPr/>
        <a:lstStyle/>
        <a:p>
          <a:endParaRPr lang="en-ZA"/>
        </a:p>
      </dgm:t>
    </dgm:pt>
    <dgm:pt modelId="{6881B156-831A-4D3A-A560-40E3AD05ED45}">
      <dgm:prSet phldrT="[Text]" custT="1"/>
      <dgm:spPr/>
      <dgm:t>
        <a:bodyPr/>
        <a:lstStyle/>
        <a:p>
          <a:r>
            <a:rPr lang="en-ZA" sz="2000" dirty="0"/>
            <a:t>Information age</a:t>
          </a:r>
        </a:p>
      </dgm:t>
    </dgm:pt>
    <dgm:pt modelId="{6A91F8FE-10A3-4D18-9F69-BAEE4016FBB7}" type="parTrans" cxnId="{C4E5FA2B-A53E-40BB-A9A9-2B7021C264F8}">
      <dgm:prSet/>
      <dgm:spPr/>
      <dgm:t>
        <a:bodyPr/>
        <a:lstStyle/>
        <a:p>
          <a:endParaRPr lang="en-US"/>
        </a:p>
      </dgm:t>
    </dgm:pt>
    <dgm:pt modelId="{EB6C9F11-7334-4CB2-962F-768A131544AE}" type="sibTrans" cxnId="{C4E5FA2B-A53E-40BB-A9A9-2B7021C264F8}">
      <dgm:prSet/>
      <dgm:spPr/>
      <dgm:t>
        <a:bodyPr/>
        <a:lstStyle/>
        <a:p>
          <a:endParaRPr lang="en-US"/>
        </a:p>
      </dgm:t>
    </dgm:pt>
    <dgm:pt modelId="{E0AF2E61-C152-4FA8-94C0-3599813DDB8E}">
      <dgm:prSet phldrT="[Text]" custT="1"/>
      <dgm:spPr/>
      <dgm:t>
        <a:bodyPr/>
        <a:lstStyle/>
        <a:p>
          <a:r>
            <a:rPr lang="en-ZA" sz="2000" dirty="0"/>
            <a:t>Managing data</a:t>
          </a:r>
        </a:p>
      </dgm:t>
    </dgm:pt>
    <dgm:pt modelId="{11251A44-A3B2-40E5-B283-B4BB81A93819}" type="parTrans" cxnId="{B149FC2A-DFF2-4F3A-895B-025253569212}">
      <dgm:prSet/>
      <dgm:spPr/>
      <dgm:t>
        <a:bodyPr/>
        <a:lstStyle/>
        <a:p>
          <a:endParaRPr lang="en-US"/>
        </a:p>
      </dgm:t>
    </dgm:pt>
    <dgm:pt modelId="{CA227697-1351-45A4-A43E-6AC9C24B1A82}" type="sibTrans" cxnId="{B149FC2A-DFF2-4F3A-895B-025253569212}">
      <dgm:prSet/>
      <dgm:spPr/>
      <dgm:t>
        <a:bodyPr/>
        <a:lstStyle/>
        <a:p>
          <a:endParaRPr lang="en-US"/>
        </a:p>
      </dgm:t>
    </dgm:pt>
    <dgm:pt modelId="{C3F5ACB9-9123-4FAB-9D35-E715D17CF79F}">
      <dgm:prSet phldrT="[Text]" custT="1"/>
      <dgm:spPr/>
      <dgm:t>
        <a:bodyPr/>
        <a:lstStyle/>
        <a:p>
          <a:r>
            <a:rPr lang="en-ZA" sz="2000" dirty="0"/>
            <a:t>Advertising</a:t>
          </a:r>
        </a:p>
      </dgm:t>
    </dgm:pt>
    <dgm:pt modelId="{A42B00A2-14DB-4436-A2B8-B76F507C48C0}" type="parTrans" cxnId="{21354473-D730-4992-BF4D-CCD58C42B800}">
      <dgm:prSet/>
      <dgm:spPr/>
      <dgm:t>
        <a:bodyPr/>
        <a:lstStyle/>
        <a:p>
          <a:endParaRPr lang="en-US"/>
        </a:p>
      </dgm:t>
    </dgm:pt>
    <dgm:pt modelId="{FCF547DE-A6FB-43F0-A2BF-9F4FC293B349}" type="sibTrans" cxnId="{21354473-D730-4992-BF4D-CCD58C42B800}">
      <dgm:prSet/>
      <dgm:spPr/>
      <dgm:t>
        <a:bodyPr/>
        <a:lstStyle/>
        <a:p>
          <a:endParaRPr lang="en-US"/>
        </a:p>
      </dgm:t>
    </dgm:pt>
    <dgm:pt modelId="{9040D59D-8884-41A5-99E4-4D6F497082F8}" type="pres">
      <dgm:prSet presAssocID="{F9838B9F-18F8-458D-BF9C-E4B7D94775EC}" presName="diagram" presStyleCnt="0">
        <dgm:presLayoutVars>
          <dgm:dir/>
          <dgm:resizeHandles val="exact"/>
        </dgm:presLayoutVars>
      </dgm:prSet>
      <dgm:spPr/>
    </dgm:pt>
    <dgm:pt modelId="{FC89678A-2682-4845-9203-5A2149682002}" type="pres">
      <dgm:prSet presAssocID="{2F01AFB7-9698-4BF5-A514-315BB37ADCDD}" presName="node" presStyleLbl="node1" presStyleIdx="0" presStyleCnt="4">
        <dgm:presLayoutVars>
          <dgm:bulletEnabled val="1"/>
        </dgm:presLayoutVars>
      </dgm:prSet>
      <dgm:spPr/>
    </dgm:pt>
    <dgm:pt modelId="{CB3AA8A1-58D8-4885-A1A6-05202B4E2F60}" type="pres">
      <dgm:prSet presAssocID="{9FCD1B8D-5785-459D-8874-56E34BB5E36D}" presName="sibTrans" presStyleCnt="0"/>
      <dgm:spPr/>
    </dgm:pt>
    <dgm:pt modelId="{951C8549-33C1-4596-A5B6-CE46645E4F34}" type="pres">
      <dgm:prSet presAssocID="{627E0264-19A3-4E64-AE8A-43D1CE478729}" presName="node" presStyleLbl="node1" presStyleIdx="1" presStyleCnt="4">
        <dgm:presLayoutVars>
          <dgm:bulletEnabled val="1"/>
        </dgm:presLayoutVars>
      </dgm:prSet>
      <dgm:spPr/>
    </dgm:pt>
    <dgm:pt modelId="{9FEE1DFF-012C-46DE-8F96-E410D68CBCFA}" type="pres">
      <dgm:prSet presAssocID="{2466254C-D4B4-4F25-9423-12D9EE49E331}" presName="sibTrans" presStyleCnt="0"/>
      <dgm:spPr/>
    </dgm:pt>
    <dgm:pt modelId="{BE2C4D7B-B69E-4A87-B6D3-7EE22095625D}" type="pres">
      <dgm:prSet presAssocID="{77CD83C3-0917-40F3-893A-DE3855E51BF7}" presName="node" presStyleLbl="node1" presStyleIdx="2" presStyleCnt="4">
        <dgm:presLayoutVars>
          <dgm:bulletEnabled val="1"/>
        </dgm:presLayoutVars>
      </dgm:prSet>
      <dgm:spPr/>
    </dgm:pt>
    <dgm:pt modelId="{D0FF915E-6863-495A-AA11-45783C5D7AE6}" type="pres">
      <dgm:prSet presAssocID="{9DFDA043-A1E4-47D6-9DFA-B227C259BAA3}" presName="sibTrans" presStyleCnt="0"/>
      <dgm:spPr/>
    </dgm:pt>
    <dgm:pt modelId="{8834C312-0C5D-4CCC-AC9C-5DE396B1AABE}" type="pres">
      <dgm:prSet presAssocID="{AE9EAA4D-E12F-4CDE-A3E1-9197153BE902}" presName="node" presStyleLbl="node1" presStyleIdx="3" presStyleCnt="4">
        <dgm:presLayoutVars>
          <dgm:bulletEnabled val="1"/>
        </dgm:presLayoutVars>
      </dgm:prSet>
      <dgm:spPr/>
    </dgm:pt>
  </dgm:ptLst>
  <dgm:cxnLst>
    <dgm:cxn modelId="{20B73103-D0CE-4B1C-8AB2-606DB9EB15ED}" type="presOf" srcId="{F23C2241-FE87-43D8-A09B-AD0E57965F69}" destId="{BE2C4D7B-B69E-4A87-B6D3-7EE22095625D}" srcOrd="0" destOrd="1" presId="urn:microsoft.com/office/officeart/2005/8/layout/default#1"/>
    <dgm:cxn modelId="{6D25490C-6B17-40C7-BC6C-8ECEBF7F9A7F}" type="presOf" srcId="{A29B4B50-E1D9-463B-A50E-AE36E063354C}" destId="{951C8549-33C1-4596-A5B6-CE46645E4F34}" srcOrd="0" destOrd="2" presId="urn:microsoft.com/office/officeart/2005/8/layout/default#1"/>
    <dgm:cxn modelId="{50ED480E-1270-4E4E-940D-EA7A007A9E2F}" srcId="{F9838B9F-18F8-458D-BF9C-E4B7D94775EC}" destId="{627E0264-19A3-4E64-AE8A-43D1CE478729}" srcOrd="1" destOrd="0" parTransId="{60D39A4A-50BB-47A1-9D21-D7D0E2105E47}" sibTransId="{2466254C-D4B4-4F25-9423-12D9EE49E331}"/>
    <dgm:cxn modelId="{91360412-18C5-4B9E-B032-D10437F8D9B8}" srcId="{77CD83C3-0917-40F3-893A-DE3855E51BF7}" destId="{F23C2241-FE87-43D8-A09B-AD0E57965F69}" srcOrd="0" destOrd="0" parTransId="{6AC27148-C4F9-4066-95F7-FFBCF6A7F40F}" sibTransId="{8F4B7565-F8F2-4529-838A-1422C905A968}"/>
    <dgm:cxn modelId="{21082F13-EB87-4A98-8671-00870327D863}" type="presOf" srcId="{77CD83C3-0917-40F3-893A-DE3855E51BF7}" destId="{BE2C4D7B-B69E-4A87-B6D3-7EE22095625D}" srcOrd="0" destOrd="0" presId="urn:microsoft.com/office/officeart/2005/8/layout/default#1"/>
    <dgm:cxn modelId="{350D0315-E9FA-47A9-A099-EE6D856D5C84}" type="presOf" srcId="{4311DB9E-89AC-44A6-846C-AE3F4C56FB33}" destId="{FC89678A-2682-4845-9203-5A2149682002}" srcOrd="0" destOrd="2" presId="urn:microsoft.com/office/officeart/2005/8/layout/default#1"/>
    <dgm:cxn modelId="{E5B9DD22-F6FC-49FD-A4DD-548D1D6AF5F3}" type="presOf" srcId="{D5BC4C2B-2AFA-44B4-A2DB-F4125B63F8EA}" destId="{8834C312-0C5D-4CCC-AC9C-5DE396B1AABE}" srcOrd="0" destOrd="2" presId="urn:microsoft.com/office/officeart/2005/8/layout/default#1"/>
    <dgm:cxn modelId="{B149FC2A-DFF2-4F3A-895B-025253569212}" srcId="{627E0264-19A3-4E64-AE8A-43D1CE478729}" destId="{E0AF2E61-C152-4FA8-94C0-3599813DDB8E}" srcOrd="2" destOrd="0" parTransId="{11251A44-A3B2-40E5-B283-B4BB81A93819}" sibTransId="{CA227697-1351-45A4-A43E-6AC9C24B1A82}"/>
    <dgm:cxn modelId="{C4E5FA2B-A53E-40BB-A9A9-2B7021C264F8}" srcId="{2F01AFB7-9698-4BF5-A514-315BB37ADCDD}" destId="{6881B156-831A-4D3A-A560-40E3AD05ED45}" srcOrd="2" destOrd="0" parTransId="{6A91F8FE-10A3-4D18-9F69-BAEE4016FBB7}" sibTransId="{EB6C9F11-7334-4CB2-962F-768A131544AE}"/>
    <dgm:cxn modelId="{2C63A72F-5E91-4720-A55A-D3AE14D3B6C3}" type="presOf" srcId="{627E0264-19A3-4E64-AE8A-43D1CE478729}" destId="{951C8549-33C1-4596-A5B6-CE46645E4F34}" srcOrd="0" destOrd="0" presId="urn:microsoft.com/office/officeart/2005/8/layout/default#1"/>
    <dgm:cxn modelId="{1666BF33-4FB4-47E4-BB91-18DFC28863F9}" type="presOf" srcId="{508FA4F6-4A13-4AFD-A4ED-A745E110E545}" destId="{BE2C4D7B-B69E-4A87-B6D3-7EE22095625D}" srcOrd="0" destOrd="3" presId="urn:microsoft.com/office/officeart/2005/8/layout/default#1"/>
    <dgm:cxn modelId="{AC69E03A-2093-4C3E-A0A3-488F7DF2E9B7}" type="presOf" srcId="{C3F5ACB9-9123-4FAB-9D35-E715D17CF79F}" destId="{951C8549-33C1-4596-A5B6-CE46645E4F34}" srcOrd="0" destOrd="4" presId="urn:microsoft.com/office/officeart/2005/8/layout/default#1"/>
    <dgm:cxn modelId="{AEAFE63A-248F-42FD-B908-383B572A5209}" srcId="{AE9EAA4D-E12F-4CDE-A3E1-9197153BE902}" destId="{D5BC4C2B-2AFA-44B4-A2DB-F4125B63F8EA}" srcOrd="1" destOrd="0" parTransId="{8F394C76-63B4-456D-882D-EA7E9EA256D4}" sibTransId="{31EAB3D6-4D29-4769-ADCA-E6945DC265B6}"/>
    <dgm:cxn modelId="{5FBD703D-9E48-45C3-BD31-26631562F2F4}" type="presOf" srcId="{A0953768-7EC4-431A-9B71-40836C29CC9B}" destId="{8834C312-0C5D-4CCC-AC9C-5DE396B1AABE}" srcOrd="0" destOrd="4" presId="urn:microsoft.com/office/officeart/2005/8/layout/default#1"/>
    <dgm:cxn modelId="{B665A266-D2CF-4A3C-9B7A-E9CB3EC11BCB}" srcId="{AE9EAA4D-E12F-4CDE-A3E1-9197153BE902}" destId="{A0953768-7EC4-431A-9B71-40836C29CC9B}" srcOrd="3" destOrd="0" parTransId="{1083FBCE-25D7-47C0-8A99-9F0467ACA4CF}" sibTransId="{F04B8B06-F408-41C9-BDAD-59EC961F8F9C}"/>
    <dgm:cxn modelId="{7F80584A-CA4B-4567-8DBA-430CCCF01936}" srcId="{627E0264-19A3-4E64-AE8A-43D1CE478729}" destId="{A29B4B50-E1D9-463B-A50E-AE36E063354C}" srcOrd="1" destOrd="0" parTransId="{5F5EACDC-A386-4D18-91CD-553B8F9DC58F}" sibTransId="{DEF919BE-97ED-437F-BFC5-7468495147B1}"/>
    <dgm:cxn modelId="{1EFCEF50-778B-414A-94E8-ED45CF97E500}" srcId="{AE9EAA4D-E12F-4CDE-A3E1-9197153BE902}" destId="{E3BBC22C-8B46-4787-9FED-C4C7BC314052}" srcOrd="4" destOrd="0" parTransId="{92AE9B3C-C6C5-491B-B40B-544FCD29FCB8}" sibTransId="{185DE5AF-6064-4978-A395-7E5B69693AB8}"/>
    <dgm:cxn modelId="{21354473-D730-4992-BF4D-CCD58C42B800}" srcId="{627E0264-19A3-4E64-AE8A-43D1CE478729}" destId="{C3F5ACB9-9123-4FAB-9D35-E715D17CF79F}" srcOrd="3" destOrd="0" parTransId="{A42B00A2-14DB-4436-A2B8-B76F507C48C0}" sibTransId="{FCF547DE-A6FB-43F0-A2BF-9F4FC293B349}"/>
    <dgm:cxn modelId="{74E47573-6E7F-4078-87C1-DD388D9CEF6B}" type="presOf" srcId="{4D153323-36A6-403C-9998-72F8282F550D}" destId="{951C8549-33C1-4596-A5B6-CE46645E4F34}" srcOrd="0" destOrd="1" presId="urn:microsoft.com/office/officeart/2005/8/layout/default#1"/>
    <dgm:cxn modelId="{63B98655-8259-42DD-BD96-3376BD6DDF88}" type="presOf" srcId="{2F01AFB7-9698-4BF5-A514-315BB37ADCDD}" destId="{FC89678A-2682-4845-9203-5A2149682002}" srcOrd="0" destOrd="0" presId="urn:microsoft.com/office/officeart/2005/8/layout/default#1"/>
    <dgm:cxn modelId="{005AD977-4445-421F-A0B8-47DBBB2BEB37}" type="presOf" srcId="{F9838B9F-18F8-458D-BF9C-E4B7D94775EC}" destId="{9040D59D-8884-41A5-99E4-4D6F497082F8}" srcOrd="0" destOrd="0" presId="urn:microsoft.com/office/officeart/2005/8/layout/default#1"/>
    <dgm:cxn modelId="{BD2AA859-C505-4427-8E29-5AE6307F88EA}" type="presOf" srcId="{AE9EAA4D-E12F-4CDE-A3E1-9197153BE902}" destId="{8834C312-0C5D-4CCC-AC9C-5DE396B1AABE}" srcOrd="0" destOrd="0" presId="urn:microsoft.com/office/officeart/2005/8/layout/default#1"/>
    <dgm:cxn modelId="{B61F817E-E848-4BC6-B92A-CCE2722DD08C}" type="presOf" srcId="{F4690F97-EEC3-4C29-BF2D-A468B9487E03}" destId="{8834C312-0C5D-4CCC-AC9C-5DE396B1AABE}" srcOrd="0" destOrd="3" presId="urn:microsoft.com/office/officeart/2005/8/layout/default#1"/>
    <dgm:cxn modelId="{1D444F87-C8C8-434E-888C-2F8C84C02872}" type="presOf" srcId="{6881B156-831A-4D3A-A560-40E3AD05ED45}" destId="{FC89678A-2682-4845-9203-5A2149682002}" srcOrd="0" destOrd="3" presId="urn:microsoft.com/office/officeart/2005/8/layout/default#1"/>
    <dgm:cxn modelId="{6ED08187-FEA5-4D27-B6BE-DD7AA384F487}" srcId="{77CD83C3-0917-40F3-893A-DE3855E51BF7}" destId="{8B3A9A67-DAA3-422F-AEF3-B03F324EB45F}" srcOrd="1" destOrd="0" parTransId="{7E3B5E4B-22FC-46F0-9EBF-9B9F0656BED1}" sibTransId="{B138B4CD-149B-4EFB-8F6A-2C1ABD33911B}"/>
    <dgm:cxn modelId="{BB3E2E98-11E4-49EA-8DBF-CF6791A5C264}" srcId="{F9838B9F-18F8-458D-BF9C-E4B7D94775EC}" destId="{77CD83C3-0917-40F3-893A-DE3855E51BF7}" srcOrd="2" destOrd="0" parTransId="{D78B7F34-E6C0-4CCF-A2B5-9C2BC7505ED3}" sibTransId="{9DFDA043-A1E4-47D6-9DFA-B227C259BAA3}"/>
    <dgm:cxn modelId="{93DE699A-EA40-492E-8FD4-550965C1124A}" type="presOf" srcId="{E3BBC22C-8B46-4787-9FED-C4C7BC314052}" destId="{8834C312-0C5D-4CCC-AC9C-5DE396B1AABE}" srcOrd="0" destOrd="5" presId="urn:microsoft.com/office/officeart/2005/8/layout/default#1"/>
    <dgm:cxn modelId="{5D5826A1-76C0-4907-8579-30C8054C7E2B}" srcId="{F9838B9F-18F8-458D-BF9C-E4B7D94775EC}" destId="{AE9EAA4D-E12F-4CDE-A3E1-9197153BE902}" srcOrd="3" destOrd="0" parTransId="{76E8BF3D-9996-4061-B9A7-9CA0022F23E8}" sibTransId="{2C001A2A-C2B7-419B-9DEA-0153CABBD9A5}"/>
    <dgm:cxn modelId="{EA5BADA4-C5B7-4059-9920-57DB6762CD23}" srcId="{2F01AFB7-9698-4BF5-A514-315BB37ADCDD}" destId="{4311DB9E-89AC-44A6-846C-AE3F4C56FB33}" srcOrd="1" destOrd="0" parTransId="{60BAA223-D802-4BB7-A551-5525236A940B}" sibTransId="{DF2A4E1F-1000-41D9-94BF-374DB3FFB383}"/>
    <dgm:cxn modelId="{C9303BAA-F2AA-48FE-804C-CA69FE25A46B}" srcId="{77CD83C3-0917-40F3-893A-DE3855E51BF7}" destId="{508FA4F6-4A13-4AFD-A4ED-A745E110E545}" srcOrd="2" destOrd="0" parTransId="{CF4E43F3-2AB6-4C5C-9292-F74D3869A53B}" sibTransId="{4F6FEBE5-BFBE-47BA-A211-0BEE685077B7}"/>
    <dgm:cxn modelId="{861D4CC5-AA51-4E68-9318-63682D43E4BC}" type="presOf" srcId="{8B3A9A67-DAA3-422F-AEF3-B03F324EB45F}" destId="{BE2C4D7B-B69E-4A87-B6D3-7EE22095625D}" srcOrd="0" destOrd="2" presId="urn:microsoft.com/office/officeart/2005/8/layout/default#1"/>
    <dgm:cxn modelId="{6508FECF-8360-4E9F-BF3D-FC54CE6ACF8C}" type="presOf" srcId="{BDA6382E-7306-4345-B6EE-BC63E4C90C88}" destId="{FC89678A-2682-4845-9203-5A2149682002}" srcOrd="0" destOrd="1" presId="urn:microsoft.com/office/officeart/2005/8/layout/default#1"/>
    <dgm:cxn modelId="{7C6D02D6-9414-411A-A857-1AFA8C5AAD51}" type="presOf" srcId="{E0AF2E61-C152-4FA8-94C0-3599813DDB8E}" destId="{951C8549-33C1-4596-A5B6-CE46645E4F34}" srcOrd="0" destOrd="3" presId="urn:microsoft.com/office/officeart/2005/8/layout/default#1"/>
    <dgm:cxn modelId="{8E13A2D9-4AC8-4D50-BA3E-F72C8162AFE0}" srcId="{2F01AFB7-9698-4BF5-A514-315BB37ADCDD}" destId="{BDA6382E-7306-4345-B6EE-BC63E4C90C88}" srcOrd="0" destOrd="0" parTransId="{4EF6B7DB-1EE2-4E9A-9E54-C10636E1DE2A}" sibTransId="{67BAF377-1307-415F-A392-BB1492F4FA83}"/>
    <dgm:cxn modelId="{7398BBD9-B042-48B3-BA0F-F53093D0FAE0}" type="presOf" srcId="{A588AB1C-B744-40B4-9A00-094B5DC86017}" destId="{FC89678A-2682-4845-9203-5A2149682002}" srcOrd="0" destOrd="4" presId="urn:microsoft.com/office/officeart/2005/8/layout/default#1"/>
    <dgm:cxn modelId="{59E320ED-38E0-4F1D-B39A-DBC666A65450}" type="presOf" srcId="{34693BE5-7636-4E06-BB3C-09088F94A120}" destId="{8834C312-0C5D-4CCC-AC9C-5DE396B1AABE}" srcOrd="0" destOrd="1" presId="urn:microsoft.com/office/officeart/2005/8/layout/default#1"/>
    <dgm:cxn modelId="{F5FBCDF3-77D5-4538-8FA1-51B1393E9CEA}" srcId="{AE9EAA4D-E12F-4CDE-A3E1-9197153BE902}" destId="{34693BE5-7636-4E06-BB3C-09088F94A120}" srcOrd="0" destOrd="0" parTransId="{AAFE0BBB-BD48-4B36-B43D-0C34E28FA2F6}" sibTransId="{6F5BDDA5-4E55-45D3-B00E-9E54A7BC8F86}"/>
    <dgm:cxn modelId="{12F6E0F3-C0BD-4B53-90F1-7908110104D5}" srcId="{F9838B9F-18F8-458D-BF9C-E4B7D94775EC}" destId="{2F01AFB7-9698-4BF5-A514-315BB37ADCDD}" srcOrd="0" destOrd="0" parTransId="{0F378D8C-E838-49A8-B4F4-A2A7ADB2B167}" sibTransId="{9FCD1B8D-5785-459D-8874-56E34BB5E36D}"/>
    <dgm:cxn modelId="{1FB1ECF3-5CCE-4B12-9DD4-D010704F5D4C}" srcId="{AE9EAA4D-E12F-4CDE-A3E1-9197153BE902}" destId="{F4690F97-EEC3-4C29-BF2D-A468B9487E03}" srcOrd="2" destOrd="0" parTransId="{F6F81ECD-6707-4FC5-ADE5-D2284703E76B}" sibTransId="{6AED6206-6FA6-4DF6-B870-502BAA049946}"/>
    <dgm:cxn modelId="{C7244FF7-2C8A-4E85-B789-B3A4D54E5E3B}" srcId="{2F01AFB7-9698-4BF5-A514-315BB37ADCDD}" destId="{A588AB1C-B744-40B4-9A00-094B5DC86017}" srcOrd="3" destOrd="0" parTransId="{65E79ECE-7C2C-4F1C-9F13-C87005024F05}" sibTransId="{DDAA1768-C85F-45EE-A559-E90FA968B23A}"/>
    <dgm:cxn modelId="{A30699F9-4721-4E45-AB19-10108C50ACEA}" srcId="{627E0264-19A3-4E64-AE8A-43D1CE478729}" destId="{4D153323-36A6-403C-9998-72F8282F550D}" srcOrd="0" destOrd="0" parTransId="{D7CCC108-9DE7-4876-9731-8F61F3D2A7E4}" sibTransId="{F8C4D3CF-A051-43B8-ADD4-883FE9287377}"/>
    <dgm:cxn modelId="{28E1AB04-2DE6-4656-9280-5F8558036D7B}" type="presParOf" srcId="{9040D59D-8884-41A5-99E4-4D6F497082F8}" destId="{FC89678A-2682-4845-9203-5A2149682002}" srcOrd="0" destOrd="0" presId="urn:microsoft.com/office/officeart/2005/8/layout/default#1"/>
    <dgm:cxn modelId="{9FDAED45-0841-4D4E-BB08-91796565AF0A}" type="presParOf" srcId="{9040D59D-8884-41A5-99E4-4D6F497082F8}" destId="{CB3AA8A1-58D8-4885-A1A6-05202B4E2F60}" srcOrd="1" destOrd="0" presId="urn:microsoft.com/office/officeart/2005/8/layout/default#1"/>
    <dgm:cxn modelId="{2B591686-97BC-488B-B8AB-265A95B4D155}" type="presParOf" srcId="{9040D59D-8884-41A5-99E4-4D6F497082F8}" destId="{951C8549-33C1-4596-A5B6-CE46645E4F34}" srcOrd="2" destOrd="0" presId="urn:microsoft.com/office/officeart/2005/8/layout/default#1"/>
    <dgm:cxn modelId="{C3DC36F8-3889-48F2-9800-59D7811B7E07}" type="presParOf" srcId="{9040D59D-8884-41A5-99E4-4D6F497082F8}" destId="{9FEE1DFF-012C-46DE-8F96-E410D68CBCFA}" srcOrd="3" destOrd="0" presId="urn:microsoft.com/office/officeart/2005/8/layout/default#1"/>
    <dgm:cxn modelId="{89489750-E7FD-43A6-BD1E-1DA8F01EEE87}" type="presParOf" srcId="{9040D59D-8884-41A5-99E4-4D6F497082F8}" destId="{BE2C4D7B-B69E-4A87-B6D3-7EE22095625D}" srcOrd="4" destOrd="0" presId="urn:microsoft.com/office/officeart/2005/8/layout/default#1"/>
    <dgm:cxn modelId="{FF51A7B0-E3FE-417E-ABCB-8DBBD65D24DF}" type="presParOf" srcId="{9040D59D-8884-41A5-99E4-4D6F497082F8}" destId="{D0FF915E-6863-495A-AA11-45783C5D7AE6}" srcOrd="5" destOrd="0" presId="urn:microsoft.com/office/officeart/2005/8/layout/default#1"/>
    <dgm:cxn modelId="{82AB0121-C981-4531-A817-B6815848C919}" type="presParOf" srcId="{9040D59D-8884-41A5-99E4-4D6F497082F8}" destId="{8834C312-0C5D-4CCC-AC9C-5DE396B1AABE}" srcOrd="6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89678A-2682-4845-9203-5A2149682002}">
      <dsp:nvSpPr>
        <dsp:cNvPr id="0" name=""/>
        <dsp:cNvSpPr/>
      </dsp:nvSpPr>
      <dsp:spPr>
        <a:xfrm>
          <a:off x="295065" y="662"/>
          <a:ext cx="3460975" cy="207658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0000"/>
                <a:satMod val="100000"/>
                <a:lumMod val="11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70000"/>
                <a:satMod val="10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Impact </a:t>
          </a:r>
          <a:r>
            <a:rPr lang="en-US" sz="2200" b="1" kern="1200"/>
            <a:t>on our lives and lifestyles</a:t>
          </a:r>
          <a:endParaRPr lang="en-ZA" sz="2200" b="1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/>
            <a:t>Communication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/>
            <a:t>Over-availability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/>
            <a:t>Information age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/>
            <a:t>Leisure</a:t>
          </a:r>
        </a:p>
      </dsp:txBody>
      <dsp:txXfrm>
        <a:off x="295065" y="662"/>
        <a:ext cx="3460975" cy="2076585"/>
      </dsp:txXfrm>
    </dsp:sp>
    <dsp:sp modelId="{951C8549-33C1-4596-A5B6-CE46645E4F34}">
      <dsp:nvSpPr>
        <dsp:cNvPr id="0" name=""/>
        <dsp:cNvSpPr/>
      </dsp:nvSpPr>
      <dsp:spPr>
        <a:xfrm>
          <a:off x="4102138" y="662"/>
          <a:ext cx="3460975" cy="207658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0000"/>
                <a:satMod val="100000"/>
                <a:lumMod val="11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70000"/>
                <a:satMod val="10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b="1" kern="1200" dirty="0"/>
            <a:t>Impact on home office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/>
            <a:t>Create own documents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/>
            <a:t>Liaising – clients &amp; suppliers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/>
            <a:t>Managing data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/>
            <a:t>Advertising</a:t>
          </a:r>
        </a:p>
      </dsp:txBody>
      <dsp:txXfrm>
        <a:off x="4102138" y="662"/>
        <a:ext cx="3460975" cy="2076585"/>
      </dsp:txXfrm>
    </dsp:sp>
    <dsp:sp modelId="{BE2C4D7B-B69E-4A87-B6D3-7EE22095625D}">
      <dsp:nvSpPr>
        <dsp:cNvPr id="0" name=""/>
        <dsp:cNvSpPr/>
      </dsp:nvSpPr>
      <dsp:spPr>
        <a:xfrm>
          <a:off x="295065" y="2423345"/>
          <a:ext cx="3460975" cy="207658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0000"/>
                <a:satMod val="100000"/>
                <a:lumMod val="11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70000"/>
                <a:satMod val="10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b="1" kern="1200"/>
            <a:t>Impact on education</a:t>
          </a:r>
          <a:endParaRPr lang="en-ZA" sz="2200" b="1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/>
            <a:t>Management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/>
            <a:t>Teachers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/>
            <a:t>Learners </a:t>
          </a:r>
        </a:p>
      </dsp:txBody>
      <dsp:txXfrm>
        <a:off x="295065" y="2423345"/>
        <a:ext cx="3460975" cy="2076585"/>
      </dsp:txXfrm>
    </dsp:sp>
    <dsp:sp modelId="{8834C312-0C5D-4CCC-AC9C-5DE396B1AABE}">
      <dsp:nvSpPr>
        <dsp:cNvPr id="0" name=""/>
        <dsp:cNvSpPr/>
      </dsp:nvSpPr>
      <dsp:spPr>
        <a:xfrm>
          <a:off x="4102138" y="2423345"/>
          <a:ext cx="3460975" cy="207658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0000"/>
                <a:satMod val="100000"/>
                <a:lumMod val="11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70000"/>
                <a:satMod val="10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b="1" kern="1200"/>
            <a:t>Computer criminals</a:t>
          </a:r>
          <a:endParaRPr lang="en-ZA" sz="22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1800" kern="1200"/>
            <a:t>Identity thieves</a:t>
          </a:r>
          <a:endParaRPr lang="en-ZA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1800" b="0" kern="1200" dirty="0"/>
            <a:t>Scammers / Phishers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1800" kern="1200"/>
            <a:t>Employees</a:t>
          </a:r>
          <a:endParaRPr lang="en-ZA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1800" kern="1200"/>
            <a:t>Hackers and crackers</a:t>
          </a:r>
          <a:endParaRPr lang="en-ZA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1800" kern="1200"/>
            <a:t>Organised crime</a:t>
          </a:r>
          <a:endParaRPr lang="en-ZA" sz="1800" kern="1200" dirty="0"/>
        </a:p>
      </dsp:txBody>
      <dsp:txXfrm>
        <a:off x="4102138" y="2423345"/>
        <a:ext cx="3460975" cy="20765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A0F2C-42CD-4E94-8BCC-A4D9C9F6BEB5}" type="datetimeFigureOut">
              <a:rPr lang="en-ZA" smtClean="0"/>
              <a:pPr/>
              <a:t>2025/08/29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8C45E-8F79-4D4D-BBF2-45A81020F4F1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443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30616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24152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417431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89461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334130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604479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269011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762281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32166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5491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457853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443979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053693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03571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216859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75885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292F32F6-A925-4FBE-955E-56727EE66E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06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64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59DA856B-5D0F-40E0-906E-B87E535B8E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287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B9B2A-EE62-4229-B728-02B5670C2A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457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B7A4-0678-4B9E-B961-B27E465E93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579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DEB-2BAD-4BB0-8D36-95A0FDEF7A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54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415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53E88-DB3D-4BD5-B3E0-4359320A1A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135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24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110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123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38217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995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136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2106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01FB-0FEE-4A4D-9ADD-9D8710ACB61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5171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 bwMode="ltGray"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B2D476D9-B36A-4BF3-9ED4-7BAB374490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651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7712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7.xml"/><Relationship Id="rId5" Type="http://schemas.openxmlformats.org/officeDocument/2006/relationships/slide" Target="slide12.xml"/><Relationship Id="rId4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slide" Target="slid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2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428596" y="428604"/>
            <a:ext cx="7917061" cy="1685503"/>
          </a:xfr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 algn="l"/>
            <a:r>
              <a:rPr lang="en-US" dirty="0"/>
              <a:t>Module 1.8 </a:t>
            </a:r>
            <a:br>
              <a:rPr lang="en-US" dirty="0"/>
            </a:br>
            <a:r>
              <a:rPr lang="en-ZA" dirty="0"/>
              <a:t>The impact of ICT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64" y="1916832"/>
            <a:ext cx="2019600" cy="2881674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837" y="701017"/>
            <a:ext cx="8229600" cy="1143000"/>
          </a:xfr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ZA" sz="4000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455" y="2492896"/>
            <a:ext cx="7736363" cy="3816424"/>
          </a:xfrm>
        </p:spPr>
        <p:txBody>
          <a:bodyPr>
            <a:noAutofit/>
          </a:bodyPr>
          <a:lstStyle/>
          <a:p>
            <a:pPr marL="432000" indent="-432000"/>
            <a:r>
              <a:rPr lang="en-US" sz="3600" dirty="0">
                <a:hlinkClick r:id="rId2" action="ppaction://hlinksldjump"/>
              </a:rPr>
              <a:t>How ICTs influence our lives and lifestyles</a:t>
            </a:r>
            <a:endParaRPr lang="en-ZA" sz="3600" dirty="0"/>
          </a:p>
          <a:p>
            <a:pPr marL="432000" indent="-432000"/>
            <a:r>
              <a:rPr lang="en-US" sz="3600" dirty="0">
                <a:hlinkClick r:id="rId3" action="ppaction://hlinksldjump"/>
              </a:rPr>
              <a:t>Impact on home office</a:t>
            </a:r>
            <a:endParaRPr lang="en-ZA" sz="3600" dirty="0"/>
          </a:p>
          <a:p>
            <a:pPr marL="432000" indent="-432000"/>
            <a:r>
              <a:rPr lang="en-US" sz="3600" dirty="0">
                <a:hlinkClick r:id="rId4" action="ppaction://hlinksldjump"/>
              </a:rPr>
              <a:t>Impact on education</a:t>
            </a:r>
            <a:endParaRPr lang="en-ZA" sz="3600" dirty="0"/>
          </a:p>
          <a:p>
            <a:pPr marL="432000" indent="-432000"/>
            <a:r>
              <a:rPr lang="en-ZA" sz="3600" dirty="0">
                <a:hlinkClick r:id="rId5" action="ppaction://hlinksldjump"/>
              </a:rPr>
              <a:t>Computer criminals </a:t>
            </a:r>
            <a:endParaRPr lang="en-ZA" sz="3600" dirty="0"/>
          </a:p>
          <a:p>
            <a:pPr marL="432000" indent="-432000"/>
            <a:r>
              <a:rPr lang="en-ZA" sz="3600" dirty="0">
                <a:hlinkClick r:id="rId6" action="ppaction://hlinksldjump"/>
              </a:rPr>
              <a:t>Test </a:t>
            </a:r>
            <a:r>
              <a:rPr lang="en-ZA" sz="3600">
                <a:hlinkClick r:id="rId6" action="ppaction://hlinksldjump"/>
              </a:rPr>
              <a:t>and improve</a:t>
            </a:r>
            <a:endParaRPr lang="en-ZA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004" y="4105138"/>
            <a:ext cx="1389346" cy="1389346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655" y="4787131"/>
            <a:ext cx="678213" cy="678213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5"/>
          <a:srcRect t="31100" r="-1974" b="31100"/>
          <a:stretch/>
        </p:blipFill>
        <p:spPr>
          <a:xfrm>
            <a:off x="6504486" y="5529302"/>
            <a:ext cx="2366565" cy="877230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2068" y="2368952"/>
            <a:ext cx="935090" cy="935090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3540" y="748356"/>
            <a:ext cx="6896534" cy="1080938"/>
          </a:xfr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Autofit/>
          </a:bodyPr>
          <a:lstStyle/>
          <a:p>
            <a:r>
              <a:rPr lang="en-US" sz="4000" dirty="0"/>
              <a:t>How ICTs influence our lives and lifestyles</a:t>
            </a:r>
            <a:endParaRPr lang="en-ZA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" name="TextBox 1"/>
          <p:cNvSpPr txBox="1"/>
          <p:nvPr/>
        </p:nvSpPr>
        <p:spPr>
          <a:xfrm>
            <a:off x="576243" y="2398857"/>
            <a:ext cx="5632177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b="0" dirty="0"/>
              <a:t>Do the jobs we do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b="0" dirty="0"/>
              <a:t>Store and watch photos &amp; videos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b="0" dirty="0"/>
              <a:t>Entertain ourselves (games &amp; music)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b="0" dirty="0"/>
              <a:t>Shop and bank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b="0" dirty="0"/>
              <a:t>Communicate with others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b="0" dirty="0"/>
              <a:t>Interact with friends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b="0" dirty="0"/>
              <a:t>Obtain and use information, etc.</a:t>
            </a:r>
          </a:p>
        </p:txBody>
      </p:sp>
      <p:sp>
        <p:nvSpPr>
          <p:cNvPr id="3" name="AutoShape 2" descr="Image result for inst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7"/>
          <a:srcRect l="9123" t="15041" r="8267" b="14407"/>
          <a:stretch/>
        </p:blipFill>
        <p:spPr>
          <a:xfrm rot="16200000">
            <a:off x="6185653" y="3688894"/>
            <a:ext cx="1358544" cy="692540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8"/>
          <a:srcRect l="16480" t="25117" r="16480" b="26907"/>
          <a:stretch/>
        </p:blipFill>
        <p:spPr>
          <a:xfrm>
            <a:off x="7303962" y="3362545"/>
            <a:ext cx="1503196" cy="668086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4" name="Action Button: Home 14">
            <a:hlinkClick r:id="rId9" action="ppaction://hlinksldjump" highlightClick="1"/>
          </p:cNvPr>
          <p:cNvSpPr/>
          <p:nvPr/>
        </p:nvSpPr>
        <p:spPr bwMode="auto">
          <a:xfrm>
            <a:off x="11430" y="6297890"/>
            <a:ext cx="531639" cy="548680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83968" y="1404065"/>
            <a:ext cx="3240360" cy="58477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ZA" sz="3200" dirty="0">
                <a:solidFill>
                  <a:srgbClr val="FF0000"/>
                </a:solidFill>
                <a:latin typeface="+mn-lt"/>
                <a:ea typeface="+mj-ea"/>
                <a:cs typeface="+mj-cs"/>
              </a:rPr>
              <a:t>The way we ...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sz="3200" dirty="0"/>
              <a:t>How ICTs influence our lives and lifestyles</a:t>
            </a:r>
            <a:endParaRPr lang="en-ZA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1857355" y="1399627"/>
            <a:ext cx="8143932" cy="58477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ZA" sz="3200" dirty="0">
                <a:solidFill>
                  <a:srgbClr val="FF0000"/>
                </a:solidFill>
                <a:latin typeface="+mn-lt"/>
                <a:ea typeface="+mj-ea"/>
                <a:cs typeface="+mj-cs"/>
              </a:rPr>
              <a:t>Communication</a:t>
            </a: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pic>
        <p:nvPicPr>
          <p:cNvPr id="10" name="Picture 9" descr="social-networking-sites.png"/>
          <p:cNvPicPr>
            <a:picLocks noChangeAspect="1"/>
          </p:cNvPicPr>
          <p:nvPr/>
        </p:nvPicPr>
        <p:blipFill>
          <a:blip r:embed="rId3" cstate="print"/>
          <a:srcRect r="57895" b="81579"/>
          <a:stretch>
            <a:fillRect/>
          </a:stretch>
        </p:blipFill>
        <p:spPr>
          <a:xfrm>
            <a:off x="3016369" y="2276872"/>
            <a:ext cx="1857388" cy="812607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11" name="Rectangle 10"/>
          <p:cNvSpPr/>
          <p:nvPr/>
        </p:nvSpPr>
        <p:spPr>
          <a:xfrm>
            <a:off x="4947169" y="2399088"/>
            <a:ext cx="32415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800" dirty="0">
                <a:solidFill>
                  <a:schemeClr val="accent2"/>
                </a:solidFill>
                <a:latin typeface="+mn-lt"/>
              </a:rPr>
              <a:t>social networking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7745" y="3493440"/>
            <a:ext cx="32528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800" dirty="0">
                <a:solidFill>
                  <a:schemeClr val="accent2"/>
                </a:solidFill>
                <a:latin typeface="+mn-lt"/>
              </a:rPr>
              <a:t>instant messaging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47169" y="4797152"/>
            <a:ext cx="38733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dirty="0">
                <a:solidFill>
                  <a:schemeClr val="accent2"/>
                </a:solidFill>
                <a:latin typeface="+mn-lt"/>
              </a:rPr>
              <a:t>blogging and emailing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3144" y="5750004"/>
            <a:ext cx="78293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2400" dirty="0">
                <a:solidFill>
                  <a:srgbClr val="FFFF00"/>
                </a:solidFill>
                <a:latin typeface="+mn-lt"/>
              </a:rPr>
              <a:t>Over-availability of communication leads to problems of its own: you can never really ‘switch off’ </a:t>
            </a:r>
            <a:r>
              <a:rPr lang="en-ZA" sz="2400" dirty="0">
                <a:solidFill>
                  <a:srgbClr val="FFFF00"/>
                </a:solidFill>
                <a:latin typeface="+mn-lt"/>
                <a:sym typeface="Wingdings" panose="05000000000000000000" pitchFamily="2" charset="2"/>
              </a:rPr>
              <a:t></a:t>
            </a:r>
            <a:endParaRPr lang="en-ZA" sz="2400" b="0" dirty="0">
              <a:solidFill>
                <a:srgbClr val="FFFF00"/>
              </a:solidFill>
              <a:latin typeface="+mn-lt"/>
            </a:endParaRPr>
          </a:p>
        </p:txBody>
      </p:sp>
      <p:pic>
        <p:nvPicPr>
          <p:cNvPr id="19" name="Picture 18" descr="gmail.png"/>
          <p:cNvPicPr>
            <a:picLocks noChangeAspect="1"/>
          </p:cNvPicPr>
          <p:nvPr/>
        </p:nvPicPr>
        <p:blipFill>
          <a:blip r:embed="rId4" cstate="print"/>
          <a:srcRect l="12468"/>
          <a:stretch>
            <a:fillRect/>
          </a:stretch>
        </p:blipFill>
        <p:spPr>
          <a:xfrm>
            <a:off x="3154700" y="4732547"/>
            <a:ext cx="1504616" cy="73146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20" name="Notched Right Arrow 19"/>
          <p:cNvSpPr/>
          <p:nvPr/>
        </p:nvSpPr>
        <p:spPr bwMode="auto">
          <a:xfrm rot="20214691">
            <a:off x="2159617" y="2715121"/>
            <a:ext cx="672188" cy="437347"/>
          </a:xfrm>
          <a:prstGeom prst="notchedRightArrow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1" name="Notched Right Arrow 20"/>
          <p:cNvSpPr/>
          <p:nvPr/>
        </p:nvSpPr>
        <p:spPr bwMode="auto">
          <a:xfrm>
            <a:off x="2230193" y="3633010"/>
            <a:ext cx="672188" cy="437347"/>
          </a:xfrm>
          <a:prstGeom prst="notchedRightArrow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2" name="Notched Right Arrow 21"/>
          <p:cNvSpPr/>
          <p:nvPr/>
        </p:nvSpPr>
        <p:spPr bwMode="auto">
          <a:xfrm rot="1749156">
            <a:off x="2119100" y="4595996"/>
            <a:ext cx="672188" cy="437347"/>
          </a:xfrm>
          <a:prstGeom prst="notchedRightArrow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5581" y="3309591"/>
            <a:ext cx="936104" cy="936104"/>
          </a:xfrm>
          <a:prstGeom prst="rect">
            <a:avLst/>
          </a:prstGeom>
          <a:effectLst/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536" y="2540610"/>
            <a:ext cx="1478964" cy="27201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5" name="Action Button: Home 14">
            <a:hlinkClick r:id="rId7" action="ppaction://hlinksldjump" highlightClick="1"/>
          </p:cNvPr>
          <p:cNvSpPr/>
          <p:nvPr/>
        </p:nvSpPr>
        <p:spPr bwMode="auto">
          <a:xfrm>
            <a:off x="11430" y="6297890"/>
            <a:ext cx="531639" cy="548680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sz="3200" dirty="0"/>
              <a:t>How ICTs influence our lives and lifestyles</a:t>
            </a:r>
            <a:endParaRPr lang="en-ZA" sz="32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1324612" y="1404065"/>
            <a:ext cx="8143932" cy="58477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ZA" sz="3200" dirty="0">
                <a:solidFill>
                  <a:srgbClr val="FF0000"/>
                </a:solidFill>
                <a:latin typeface="+mn-lt"/>
                <a:ea typeface="+mj-ea"/>
                <a:cs typeface="+mj-cs"/>
              </a:rPr>
              <a:t>Access to information</a:t>
            </a: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7" name="Oval 26"/>
          <p:cNvSpPr/>
          <p:nvPr/>
        </p:nvSpPr>
        <p:spPr bwMode="auto">
          <a:xfrm>
            <a:off x="6357950" y="2071678"/>
            <a:ext cx="1643074" cy="1357322"/>
          </a:xfrm>
          <a:prstGeom prst="ellipse">
            <a:avLst/>
          </a:prstGeom>
          <a:solidFill>
            <a:schemeClr val="accent3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1" i="0" u="none" strike="noStrike" cap="none" normalizeH="0" baseline="0">
                <a:ln>
                  <a:noFill/>
                </a:ln>
                <a:effectLst/>
                <a:latin typeface="+mn-lt"/>
              </a:rPr>
              <a:t>Email</a:t>
            </a:r>
            <a:endParaRPr kumimoji="0" lang="en-ZA" sz="2400" b="1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</p:txBody>
      </p:sp>
      <p:sp>
        <p:nvSpPr>
          <p:cNvPr id="28" name="Oval 27"/>
          <p:cNvSpPr/>
          <p:nvPr/>
        </p:nvSpPr>
        <p:spPr bwMode="auto">
          <a:xfrm>
            <a:off x="6429748" y="4136689"/>
            <a:ext cx="1643074" cy="1357322"/>
          </a:xfrm>
          <a:prstGeom prst="ellipse">
            <a:avLst/>
          </a:prstGeom>
          <a:solidFill>
            <a:srgbClr val="92D050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WWW</a:t>
            </a:r>
          </a:p>
        </p:txBody>
      </p:sp>
      <p:sp>
        <p:nvSpPr>
          <p:cNvPr id="29" name="Oval 28"/>
          <p:cNvSpPr/>
          <p:nvPr/>
        </p:nvSpPr>
        <p:spPr bwMode="auto">
          <a:xfrm>
            <a:off x="3864557" y="5079740"/>
            <a:ext cx="1643074" cy="1357322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SMS /MMS</a:t>
            </a:r>
          </a:p>
        </p:txBody>
      </p:sp>
      <p:sp>
        <p:nvSpPr>
          <p:cNvPr id="30" name="Oval 29"/>
          <p:cNvSpPr/>
          <p:nvPr/>
        </p:nvSpPr>
        <p:spPr bwMode="auto">
          <a:xfrm>
            <a:off x="823170" y="4537552"/>
            <a:ext cx="2357454" cy="135732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Cellphone calls</a:t>
            </a:r>
          </a:p>
        </p:txBody>
      </p:sp>
      <p:sp>
        <p:nvSpPr>
          <p:cNvPr id="31" name="Oval 30"/>
          <p:cNvSpPr/>
          <p:nvPr/>
        </p:nvSpPr>
        <p:spPr bwMode="auto">
          <a:xfrm>
            <a:off x="1344441" y="2193539"/>
            <a:ext cx="1643074" cy="1357322"/>
          </a:xfrm>
          <a:prstGeom prst="ellipse">
            <a:avLst/>
          </a:prstGeom>
          <a:solidFill>
            <a:schemeClr val="accent2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TV/ Radio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7504" y="3213394"/>
            <a:ext cx="173791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+mn-lt"/>
                <a:sym typeface="Webdings"/>
              </a:rPr>
              <a:t></a:t>
            </a:r>
            <a:endParaRPr lang="en-US" sz="540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+mn-lt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793654" y="2818989"/>
            <a:ext cx="98410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latin typeface="+mn-lt"/>
                <a:sym typeface="Webdings"/>
              </a:rPr>
              <a:t></a:t>
            </a:r>
            <a:endParaRPr lang="en-US" sz="540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latin typeface="+mn-lt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618104" y="5217820"/>
            <a:ext cx="106553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92D05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sym typeface="Webdings"/>
              </a:rPr>
              <a:t></a:t>
            </a:r>
            <a:endParaRPr lang="en-US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92D05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n-lt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645584" y="5679485"/>
            <a:ext cx="6046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sym typeface="Webdings"/>
              </a:rPr>
              <a:t></a:t>
            </a:r>
            <a:endParaRPr lang="en-US" sz="540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+mn-lt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250012" y="5791319"/>
            <a:ext cx="93061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US" sz="5400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  <a:sym typeface="Webdings"/>
              </a:rPr>
              <a:t></a:t>
            </a:r>
            <a:endParaRPr lang="en-US" sz="5400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Action Button: Home 14">
            <a:hlinkClick r:id="rId3" action="ppaction://hlinksldjump" highlightClick="1"/>
          </p:cNvPr>
          <p:cNvSpPr/>
          <p:nvPr/>
        </p:nvSpPr>
        <p:spPr bwMode="auto">
          <a:xfrm>
            <a:off x="11430" y="6297890"/>
            <a:ext cx="531639" cy="548680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Rectangle: Rounded Corners 2"/>
          <p:cNvSpPr/>
          <p:nvPr/>
        </p:nvSpPr>
        <p:spPr>
          <a:xfrm>
            <a:off x="3014239" y="2806074"/>
            <a:ext cx="3343711" cy="2135093"/>
          </a:xfrm>
          <a:prstGeom prst="roundRect">
            <a:avLst>
              <a:gd name="adj" fmla="val 18808"/>
            </a:avLst>
          </a:prstGeom>
          <a:solidFill>
            <a:schemeClr val="tx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r>
              <a:rPr lang="en-ZA" sz="2400" dirty="0">
                <a:solidFill>
                  <a:srgbClr val="FF0000"/>
                </a:solidFill>
              </a:rPr>
              <a:t>!! Information !!</a:t>
            </a:r>
          </a:p>
          <a:p>
            <a:pPr marL="252000" indent="-252000">
              <a:buFont typeface="Arial" pitchFamily="34" charset="0"/>
              <a:buChar char="•"/>
            </a:pPr>
            <a:r>
              <a:rPr lang="en-ZA" b="0" dirty="0">
                <a:solidFill>
                  <a:schemeClr val="bg1"/>
                </a:solidFill>
              </a:rPr>
              <a:t>Find it quickly</a:t>
            </a:r>
          </a:p>
          <a:p>
            <a:pPr marL="252000" indent="-252000">
              <a:buFont typeface="Arial" pitchFamily="34" charset="0"/>
              <a:buChar char="•"/>
            </a:pPr>
            <a:r>
              <a:rPr lang="en-ZA" b="0" dirty="0">
                <a:solidFill>
                  <a:schemeClr val="bg1"/>
                </a:solidFill>
              </a:rPr>
              <a:t>Determine if source is reliable</a:t>
            </a:r>
          </a:p>
          <a:p>
            <a:pPr marL="252000" indent="-252000">
              <a:buFont typeface="Arial" pitchFamily="34" charset="0"/>
              <a:buChar char="•"/>
            </a:pPr>
            <a:r>
              <a:rPr lang="en-ZA" b="0" dirty="0">
                <a:solidFill>
                  <a:schemeClr val="bg1"/>
                </a:solidFill>
              </a:rPr>
              <a:t>Analyse and summarise it accurately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8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3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6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1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2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 animBg="1"/>
      <p:bldP spid="32" grpId="0"/>
      <p:bldP spid="33" grpId="0"/>
      <p:bldP spid="34" grpId="0"/>
      <p:bldP spid="35" grpId="0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631534" y="2199823"/>
            <a:ext cx="6172714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600" b="0" dirty="0">
                <a:latin typeface="+mn-lt"/>
              </a:rPr>
              <a:t>Movies, music, printed media via internet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600" b="0" dirty="0">
                <a:latin typeface="+mn-lt"/>
              </a:rPr>
              <a:t>Video on Demand (VOD)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600" b="0">
                <a:latin typeface="+mn-lt"/>
              </a:rPr>
              <a:t>Internet TV – not </a:t>
            </a:r>
            <a:r>
              <a:rPr lang="en-ZA" sz="2600" b="0" dirty="0">
                <a:latin typeface="+mn-lt"/>
              </a:rPr>
              <a:t>using radio signals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600" b="0" dirty="0">
                <a:latin typeface="+mn-lt"/>
              </a:rPr>
              <a:t>Online travel bookings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600" b="0" dirty="0">
                <a:latin typeface="+mn-lt"/>
              </a:rPr>
              <a:t>Online computer games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600" b="0" dirty="0">
                <a:latin typeface="+mn-lt"/>
              </a:rPr>
              <a:t>Fitness programs in front of TV with gaming console</a:t>
            </a:r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sz="3200" dirty="0"/>
              <a:t>How ICTs influence one’s life and life styles</a:t>
            </a:r>
            <a:endParaRPr lang="en-ZA" sz="3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2627784" y="1382915"/>
            <a:ext cx="8143932" cy="58477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ZA" sz="3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Leisure</a:t>
            </a: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120" y="2348880"/>
            <a:ext cx="1819633" cy="1014795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5119" y="3501008"/>
            <a:ext cx="1819633" cy="959870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5118" y="4581128"/>
            <a:ext cx="1819633" cy="1819633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  <p:sp>
        <p:nvSpPr>
          <p:cNvPr id="13" name="Action Button: Home 14">
            <a:hlinkClick r:id="rId6" action="ppaction://hlinksldjump" highlightClick="1"/>
          </p:cNvPr>
          <p:cNvSpPr/>
          <p:nvPr/>
        </p:nvSpPr>
        <p:spPr bwMode="auto">
          <a:xfrm>
            <a:off x="11430" y="6297890"/>
            <a:ext cx="531639" cy="548680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sz="4000" dirty="0"/>
              <a:t>Impact on home office</a:t>
            </a:r>
            <a:endParaRPr lang="en-ZA" sz="4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3" name="Rectangle 12"/>
          <p:cNvSpPr/>
          <p:nvPr/>
        </p:nvSpPr>
        <p:spPr>
          <a:xfrm>
            <a:off x="543069" y="2622774"/>
            <a:ext cx="6189171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000" lvl="1" indent="-3600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ZA" sz="2800" b="0" dirty="0"/>
              <a:t>type and edit your documents</a:t>
            </a:r>
          </a:p>
          <a:p>
            <a:pPr marL="360000" lvl="1" indent="-3600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ZA" sz="2800" b="0" dirty="0"/>
              <a:t>keep track of your accounts</a:t>
            </a:r>
          </a:p>
          <a:p>
            <a:pPr marL="360000" lvl="1" indent="-3600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ZA" sz="2800" b="0" dirty="0"/>
              <a:t>communicate with clients &amp; suppliers</a:t>
            </a:r>
          </a:p>
          <a:p>
            <a:pPr marL="360000" lvl="1" indent="-3600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ZA" sz="2800" b="0" dirty="0"/>
              <a:t>file and organise client data etc.</a:t>
            </a:r>
          </a:p>
          <a:p>
            <a:pPr marL="360000" lvl="1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800" b="0" dirty="0"/>
              <a:t>advertise your product or service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490" y="2698458"/>
            <a:ext cx="2371297" cy="10994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7777" y="3922323"/>
            <a:ext cx="2350009" cy="14100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7776" y="5488276"/>
            <a:ext cx="2378471" cy="1048498"/>
          </a:xfrm>
          <a:prstGeom prst="rect">
            <a:avLst/>
          </a:prstGeom>
        </p:spPr>
      </p:pic>
      <p:sp>
        <p:nvSpPr>
          <p:cNvPr id="14" name="Action Button: Home 14">
            <a:hlinkClick r:id="rId6" action="ppaction://hlinksldjump" highlightClick="1"/>
          </p:cNvPr>
          <p:cNvSpPr/>
          <p:nvPr/>
        </p:nvSpPr>
        <p:spPr bwMode="auto">
          <a:xfrm>
            <a:off x="11430" y="6297890"/>
            <a:ext cx="531639" cy="548680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3069" y="1450396"/>
            <a:ext cx="8358246" cy="58477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ZA" sz="3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Save money! use the PC to...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/>
              <a:t>Impact on education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1127066" y="1427634"/>
            <a:ext cx="6696744" cy="58477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ZA" sz="3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ICT use by school management</a:t>
            </a: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" name="Rectangle 1"/>
          <p:cNvSpPr/>
          <p:nvPr/>
        </p:nvSpPr>
        <p:spPr>
          <a:xfrm>
            <a:off x="251520" y="2394060"/>
            <a:ext cx="6802097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000" lvl="1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600" b="0" dirty="0"/>
              <a:t>Create timetables with special software</a:t>
            </a:r>
          </a:p>
          <a:p>
            <a:pPr marL="360000" lvl="1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600" b="0" dirty="0"/>
              <a:t>Use word processors to produce neat exam papers</a:t>
            </a:r>
          </a:p>
          <a:p>
            <a:pPr marL="360000" lvl="1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600" b="0" dirty="0"/>
              <a:t>Communicate with parents (email / SMS)</a:t>
            </a:r>
          </a:p>
          <a:p>
            <a:pPr marL="360000" lvl="1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600" b="0" dirty="0"/>
              <a:t>Calculate marks in a spreadsheet </a:t>
            </a:r>
          </a:p>
          <a:p>
            <a:pPr marL="360000" lvl="1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600" b="0" dirty="0"/>
              <a:t>Market the school via a website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038" y="2340578"/>
            <a:ext cx="1917341" cy="2189480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928" y="5827104"/>
            <a:ext cx="825499" cy="772126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6056" y="5771368"/>
            <a:ext cx="825499" cy="825499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4791739"/>
            <a:ext cx="2661195" cy="1798554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  <p:sp>
        <p:nvSpPr>
          <p:cNvPr id="13" name="Action Button: Home 14">
            <a:hlinkClick r:id="rId7" action="ppaction://hlinksldjump" highlightClick="1"/>
          </p:cNvPr>
          <p:cNvSpPr/>
          <p:nvPr/>
        </p:nvSpPr>
        <p:spPr bwMode="auto">
          <a:xfrm>
            <a:off x="11430" y="6297890"/>
            <a:ext cx="531639" cy="548680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/>
              <a:t>Impact on education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3421852" y="1433948"/>
            <a:ext cx="4392488" cy="58477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ZA" sz="3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ICT use by teachers</a:t>
            </a:r>
            <a:endParaRPr lang="en-ZA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07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66864" y="4365104"/>
            <a:ext cx="2747659" cy="2061154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7" name="Picture 16" descr="projector.JPG"/>
          <p:cNvPicPr>
            <a:picLocks noChangeAspect="1"/>
          </p:cNvPicPr>
          <p:nvPr/>
        </p:nvPicPr>
        <p:blipFill>
          <a:blip r:embed="rId4" cstate="print"/>
          <a:srcRect l="5618" t="25094" r="19101" b="11985"/>
          <a:stretch>
            <a:fillRect/>
          </a:stretch>
        </p:blipFill>
        <p:spPr>
          <a:xfrm>
            <a:off x="6166864" y="2490559"/>
            <a:ext cx="2747659" cy="1722413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3" name="Rectangle 2"/>
          <p:cNvSpPr/>
          <p:nvPr/>
        </p:nvSpPr>
        <p:spPr>
          <a:xfrm>
            <a:off x="469524" y="2772360"/>
            <a:ext cx="5398620" cy="31854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2000" lvl="0" indent="-432000">
              <a:spcAft>
                <a:spcPts val="18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 projectors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2000" lvl="0" indent="-432000">
              <a:spcAft>
                <a:spcPts val="18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Electronic whiteboards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2000" lvl="0" indent="-432000">
              <a:spcAft>
                <a:spcPts val="18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Lessons and worksheets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2000" lvl="0" indent="-432000">
              <a:spcAft>
                <a:spcPts val="18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Specialised programs for use in geographic information systems (GIS), science experiments, etc.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Action Button: Home 14">
            <a:hlinkClick r:id="rId5" action="ppaction://hlinksldjump" highlightClick="1"/>
          </p:cNvPr>
          <p:cNvSpPr/>
          <p:nvPr/>
        </p:nvSpPr>
        <p:spPr bwMode="auto">
          <a:xfrm>
            <a:off x="11430" y="6297890"/>
            <a:ext cx="531639" cy="548680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0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/>
              <a:t>Impact on education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2772966" y="1414055"/>
            <a:ext cx="5112568" cy="58477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ZA" sz="3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ICT use by learners (1)</a:t>
            </a: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7543" y="2256542"/>
            <a:ext cx="6048673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2000" lvl="0" indent="-432000">
              <a:spcAft>
                <a:spcPts val="12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Get information from the internet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2000" lvl="0" indent="-432000">
              <a:spcAft>
                <a:spcPts val="12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Process data in Excel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2000" lvl="0" indent="-432000">
              <a:spcAft>
                <a:spcPts val="12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Type up neat assignments in Word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2000" lvl="0" indent="-432000">
              <a:spcAft>
                <a:spcPts val="12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Create diagrams using </a:t>
            </a:r>
            <a:b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Paint / SmartArt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2000" lvl="0" indent="-432000">
              <a:spcAft>
                <a:spcPts val="12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Take photos and record </a:t>
            </a:r>
            <a:b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interviews with </a:t>
            </a:r>
            <a:b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smartphones, etc.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4005064"/>
            <a:ext cx="3960440" cy="2646640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  <p:sp>
        <p:nvSpPr>
          <p:cNvPr id="11" name="Action Button: Home 14">
            <a:hlinkClick r:id="rId4" action="ppaction://hlinksldjump" highlightClick="1"/>
          </p:cNvPr>
          <p:cNvSpPr/>
          <p:nvPr/>
        </p:nvSpPr>
        <p:spPr bwMode="auto">
          <a:xfrm>
            <a:off x="11430" y="6297890"/>
            <a:ext cx="531639" cy="548680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/>
              <a:t>Impact on education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1259632" y="1412776"/>
            <a:ext cx="8143932" cy="58477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ZA" sz="3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ICT use by learners (2)</a:t>
            </a: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67544" y="2852936"/>
            <a:ext cx="5976664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2000" lvl="0" indent="-432000">
              <a:spcAft>
                <a:spcPts val="12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Watch videos that explain how to do practical tasks in CAT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2000" lvl="0" indent="-432000">
              <a:spcAft>
                <a:spcPts val="12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Use social networking sites to share with others on various projects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2000" lvl="0" indent="-432000">
              <a:spcAft>
                <a:spcPts val="12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Use a typing tutor or a mathematics drill-and-practice program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Action Button: Home 14">
            <a:hlinkClick r:id="rId3" action="ppaction://hlinksldjump" highlightClick="1"/>
          </p:cNvPr>
          <p:cNvSpPr/>
          <p:nvPr/>
        </p:nvSpPr>
        <p:spPr bwMode="auto">
          <a:xfrm>
            <a:off x="11430" y="6297890"/>
            <a:ext cx="531639" cy="548680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0973" y="2852936"/>
            <a:ext cx="1335254" cy="310380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/>
              <a:t>Computer criminals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4120490" y="1441130"/>
            <a:ext cx="3679436" cy="58477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ZA" sz="3200" dirty="0">
                <a:solidFill>
                  <a:srgbClr val="FF0000"/>
                </a:solidFill>
                <a:latin typeface="+mn-lt"/>
                <a:ea typeface="+mj-ea"/>
                <a:cs typeface="+mj-cs"/>
              </a:rPr>
              <a:t>Identity thieves</a:t>
            </a: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2" name="Rectangle 11"/>
          <p:cNvSpPr/>
          <p:nvPr/>
        </p:nvSpPr>
        <p:spPr>
          <a:xfrm>
            <a:off x="277249" y="2204864"/>
            <a:ext cx="68580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2800" dirty="0">
                <a:solidFill>
                  <a:schemeClr val="bg1"/>
                </a:solidFill>
                <a:latin typeface="+mn-lt"/>
              </a:rPr>
              <a:t>Why do they try to steal an identity?</a:t>
            </a:r>
          </a:p>
        </p:txBody>
      </p:sp>
      <p:sp>
        <p:nvSpPr>
          <p:cNvPr id="2" name="Rectangle 1"/>
          <p:cNvSpPr/>
          <p:nvPr/>
        </p:nvSpPr>
        <p:spPr>
          <a:xfrm>
            <a:off x="560586" y="2839061"/>
            <a:ext cx="6102012" cy="31854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2000" lvl="0" indent="-432000">
              <a:spcAft>
                <a:spcPts val="18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 gain access to secret documents /  valuable information / your money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2000" lvl="0" indent="-432000">
              <a:spcAft>
                <a:spcPts val="18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 obtain credit or loans, or buy goods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2000" lvl="0" indent="-432000">
              <a:spcAft>
                <a:spcPts val="18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 spread false information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2000" lvl="0" indent="-432000">
              <a:spcAft>
                <a:spcPts val="18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 commit a crime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6662598" y="4037584"/>
            <a:ext cx="2016224" cy="2343744"/>
            <a:chOff x="7092280" y="4293096"/>
            <a:chExt cx="1440160" cy="2088232"/>
          </a:xfrm>
        </p:grpSpPr>
        <p:sp>
          <p:nvSpPr>
            <p:cNvPr id="3" name="Oval 2"/>
            <p:cNvSpPr/>
            <p:nvPr/>
          </p:nvSpPr>
          <p:spPr>
            <a:xfrm>
              <a:off x="7092280" y="4293096"/>
              <a:ext cx="1440160" cy="208823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shade val="30000"/>
                    <a:satMod val="115000"/>
                  </a:schemeClr>
                </a:gs>
                <a:gs pos="50000">
                  <a:schemeClr val="tx1">
                    <a:shade val="67500"/>
                    <a:satMod val="115000"/>
                  </a:schemeClr>
                </a:gs>
                <a:gs pos="100000">
                  <a:schemeClr val="tx1">
                    <a:shade val="100000"/>
                    <a:satMod val="115000"/>
                  </a:schemeClr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5" name="Teardrop 4"/>
            <p:cNvSpPr/>
            <p:nvPr/>
          </p:nvSpPr>
          <p:spPr>
            <a:xfrm>
              <a:off x="7930889" y="5071267"/>
              <a:ext cx="432048" cy="229206"/>
            </a:xfrm>
            <a:prstGeom prst="teardrop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1" name="Teardrop 10"/>
            <p:cNvSpPr/>
            <p:nvPr/>
          </p:nvSpPr>
          <p:spPr>
            <a:xfrm flipH="1">
              <a:off x="7308304" y="5072002"/>
              <a:ext cx="432048" cy="229206"/>
            </a:xfrm>
            <a:prstGeom prst="teardrop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Rectangle 5"/>
            <p:cNvSpPr/>
            <p:nvPr/>
          </p:nvSpPr>
          <p:spPr>
            <a:xfrm>
              <a:off x="7596336" y="5741285"/>
              <a:ext cx="550577" cy="21602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sp>
        <p:nvSpPr>
          <p:cNvPr id="14" name="Action Button: Home 14">
            <a:hlinkClick r:id="rId3" action="ppaction://hlinksldjump" highlightClick="1"/>
          </p:cNvPr>
          <p:cNvSpPr/>
          <p:nvPr/>
        </p:nvSpPr>
        <p:spPr bwMode="auto">
          <a:xfrm>
            <a:off x="11430" y="6297890"/>
            <a:ext cx="531639" cy="548680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/>
              <a:t>Computer criminals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/>
          </a:p>
        </p:txBody>
      </p:sp>
      <p:sp>
        <p:nvSpPr>
          <p:cNvPr id="8" name="TextBox 7"/>
          <p:cNvSpPr txBox="1"/>
          <p:nvPr/>
        </p:nvSpPr>
        <p:spPr>
          <a:xfrm>
            <a:off x="1187624" y="1402705"/>
            <a:ext cx="8143932" cy="64633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ZA" sz="36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Scammers / Phishers</a:t>
            </a: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9" name="Rectangle 18"/>
          <p:cNvSpPr/>
          <p:nvPr/>
        </p:nvSpPr>
        <p:spPr>
          <a:xfrm>
            <a:off x="458297" y="2185700"/>
            <a:ext cx="65117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ZA" sz="2800" dirty="0">
                <a:solidFill>
                  <a:schemeClr val="bg1"/>
                </a:solidFill>
                <a:latin typeface="+mn-lt"/>
              </a:rPr>
              <a:t>How do they try to steal your money?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1639" y="2835801"/>
            <a:ext cx="6967634" cy="31854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2000" lvl="0" indent="-432000">
              <a:spcAft>
                <a:spcPts val="18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Phishing – to get your banking details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2000" lvl="0" indent="-432000">
              <a:spcAft>
                <a:spcPts val="18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Fake websites – to commit fraud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2000" lvl="0" indent="-432000">
              <a:spcAft>
                <a:spcPts val="18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Fake virus alarms – for you to buy ‘protection’ software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2000" lvl="0" indent="-432000">
              <a:spcAft>
                <a:spcPts val="18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Bogus ‘lottery winnings’ or investment opportunities, pyramid schemes, etc.</a:t>
            </a:r>
            <a:endParaRPr lang="en-ZA" sz="26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6732240" y="4573189"/>
            <a:ext cx="2042333" cy="1981881"/>
            <a:chOff x="7428173" y="5050841"/>
            <a:chExt cx="1584176" cy="1584176"/>
          </a:xfrm>
        </p:grpSpPr>
        <p:sp>
          <p:nvSpPr>
            <p:cNvPr id="4" name="Isosceles Triangle 3"/>
            <p:cNvSpPr/>
            <p:nvPr/>
          </p:nvSpPr>
          <p:spPr>
            <a:xfrm>
              <a:off x="7428173" y="5050841"/>
              <a:ext cx="1584176" cy="1584176"/>
            </a:xfrm>
            <a:prstGeom prst="triangl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1" name="Isosceles Triangle 10"/>
            <p:cNvSpPr/>
            <p:nvPr/>
          </p:nvSpPr>
          <p:spPr>
            <a:xfrm>
              <a:off x="7608193" y="5373216"/>
              <a:ext cx="1224136" cy="1152128"/>
            </a:xfrm>
            <a:prstGeom prst="triangl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026448" y="5602014"/>
              <a:ext cx="421910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!</a:t>
              </a:r>
            </a:p>
          </p:txBody>
        </p:sp>
      </p:grpSp>
      <p:sp>
        <p:nvSpPr>
          <p:cNvPr id="13" name="Action Button: Home 14">
            <a:hlinkClick r:id="rId3" action="ppaction://hlinksldjump" highlightClick="1"/>
          </p:cNvPr>
          <p:cNvSpPr/>
          <p:nvPr/>
        </p:nvSpPr>
        <p:spPr bwMode="auto">
          <a:xfrm>
            <a:off x="11430" y="6297890"/>
            <a:ext cx="531639" cy="548680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/>
              <a:t>Computer criminals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/>
          </a:p>
        </p:txBody>
      </p:sp>
      <p:sp>
        <p:nvSpPr>
          <p:cNvPr id="8" name="TextBox 7"/>
          <p:cNvSpPr txBox="1"/>
          <p:nvPr/>
        </p:nvSpPr>
        <p:spPr>
          <a:xfrm>
            <a:off x="2267744" y="1372403"/>
            <a:ext cx="8143932" cy="64633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ZA" sz="36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Employees</a:t>
            </a:r>
            <a:r>
              <a:rPr lang="en-ZA" sz="2800" dirty="0">
                <a:solidFill>
                  <a:srgbClr val="FF0000"/>
                </a:solidFill>
              </a:rPr>
              <a:t> </a:t>
            </a:r>
            <a:endParaRPr lang="en-ZA" sz="2800" b="0" dirty="0">
              <a:solidFill>
                <a:srgbClr val="FF000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83568" y="2257708"/>
            <a:ext cx="59394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ZA" sz="2800" dirty="0">
                <a:solidFill>
                  <a:schemeClr val="bg1"/>
                </a:solidFill>
                <a:latin typeface="+mn-lt"/>
              </a:rPr>
              <a:t>How do ordinary employees fit in?</a:t>
            </a:r>
          </a:p>
        </p:txBody>
      </p:sp>
      <p:sp>
        <p:nvSpPr>
          <p:cNvPr id="2" name="Rectangle 1"/>
          <p:cNvSpPr/>
          <p:nvPr/>
        </p:nvSpPr>
        <p:spPr>
          <a:xfrm>
            <a:off x="715576" y="3060788"/>
            <a:ext cx="7453064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2000" indent="-4320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ZA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Employees have easiest access to computers </a:t>
            </a:r>
          </a:p>
          <a:p>
            <a:pPr marL="432000" indent="-4320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ZA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Computer equipment, software, sensitive information, computer time etc. can be stolen</a:t>
            </a:r>
          </a:p>
          <a:p>
            <a:pPr marL="432000" indent="-4320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ZA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‘Revenge’ actions against perceived injustices by company – can cause serious damage to computers or network</a:t>
            </a:r>
          </a:p>
        </p:txBody>
      </p:sp>
      <p:sp>
        <p:nvSpPr>
          <p:cNvPr id="9" name="Action Button: Home 14">
            <a:hlinkClick r:id="rId3" action="ppaction://hlinksldjump" highlightClick="1"/>
          </p:cNvPr>
          <p:cNvSpPr/>
          <p:nvPr/>
        </p:nvSpPr>
        <p:spPr bwMode="auto">
          <a:xfrm>
            <a:off x="11430" y="6297890"/>
            <a:ext cx="531639" cy="548680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/>
              <a:t>Computer criminals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/>
          </a:p>
        </p:txBody>
      </p:sp>
      <p:sp>
        <p:nvSpPr>
          <p:cNvPr id="8" name="TextBox 7"/>
          <p:cNvSpPr txBox="1"/>
          <p:nvPr/>
        </p:nvSpPr>
        <p:spPr>
          <a:xfrm>
            <a:off x="2632186" y="1414932"/>
            <a:ext cx="5203034" cy="64633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ZA" sz="36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Hackers and Crackers</a:t>
            </a:r>
            <a:r>
              <a:rPr lang="en-ZA" sz="2800" b="0" dirty="0">
                <a:solidFill>
                  <a:srgbClr val="FF0000"/>
                </a:solidFill>
              </a:rPr>
              <a:t>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1520" y="2360493"/>
            <a:ext cx="86409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  <a:latin typeface="+mn-lt"/>
              </a:rPr>
              <a:t>Computer criminals who break into computer systems</a:t>
            </a:r>
            <a:endParaRPr lang="en-ZA" sz="2600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590446"/>
              </p:ext>
            </p:extLst>
          </p:nvPr>
        </p:nvGraphicFramePr>
        <p:xfrm>
          <a:off x="783571" y="3219139"/>
          <a:ext cx="7643866" cy="12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1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1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162">
                <a:tc>
                  <a:txBody>
                    <a:bodyPr/>
                    <a:lstStyle/>
                    <a:p>
                      <a:pPr algn="l"/>
                      <a:r>
                        <a:rPr lang="en-ZA" sz="2400" dirty="0"/>
                        <a:t>HACKERS</a:t>
                      </a:r>
                      <a:endParaRPr lang="en-ZA" sz="2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ZA" sz="2400" dirty="0"/>
                        <a:t>CRACKERS</a:t>
                      </a:r>
                      <a:endParaRPr lang="en-ZA" sz="2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1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Mainly for the </a:t>
                      </a:r>
                      <a:r>
                        <a:rPr lang="en-US" sz="2200" u="none" dirty="0"/>
                        <a:t>prestige or recognition – ‘white hat’</a:t>
                      </a:r>
                      <a:endParaRPr lang="en-US" sz="2200" b="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ZA" sz="2200" kern="1200" dirty="0"/>
                        <a:t>Intention of performing some </a:t>
                      </a:r>
                      <a:r>
                        <a:rPr lang="en-ZA" sz="2200" u="none" kern="1200" dirty="0"/>
                        <a:t>crime</a:t>
                      </a:r>
                      <a:r>
                        <a:rPr lang="en-ZA" sz="2200" kern="1200" dirty="0"/>
                        <a:t> – ‘black</a:t>
                      </a:r>
                      <a:r>
                        <a:rPr lang="en-ZA" sz="2200" kern="1200" baseline="0" dirty="0"/>
                        <a:t> hat’</a:t>
                      </a:r>
                      <a:endParaRPr lang="en-ZA" sz="22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039898" y="4866125"/>
            <a:ext cx="68407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ZA" sz="2800" dirty="0">
                <a:solidFill>
                  <a:srgbClr val="FF0000"/>
                </a:solidFill>
                <a:latin typeface="+mn-lt"/>
              </a:rPr>
              <a:t>??  Did you know  ??</a:t>
            </a:r>
          </a:p>
          <a:p>
            <a:pPr algn="ctr"/>
            <a:r>
              <a:rPr lang="en-US" sz="2400" b="0" dirty="0">
                <a:latin typeface="+mn-lt"/>
              </a:rPr>
              <a:t>Companies that specialize in computer security sometimes hire HACKERS to work </a:t>
            </a:r>
            <a:r>
              <a:rPr lang="en-US" sz="2400" b="0">
                <a:latin typeface="+mn-lt"/>
              </a:rPr>
              <a:t>for them</a:t>
            </a:r>
            <a:endParaRPr lang="en-ZA" sz="2400" dirty="0">
              <a:latin typeface="+mn-lt"/>
            </a:endParaRPr>
          </a:p>
        </p:txBody>
      </p:sp>
      <p:sp>
        <p:nvSpPr>
          <p:cNvPr id="3" name="Lock"/>
          <p:cNvSpPr>
            <a:spLocks noEditPoints="1" noChangeArrowheads="1"/>
          </p:cNvSpPr>
          <p:nvPr/>
        </p:nvSpPr>
        <p:spPr bwMode="auto">
          <a:xfrm>
            <a:off x="7961684" y="4476601"/>
            <a:ext cx="831606" cy="1079413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9606 h 21600"/>
              <a:gd name="T4" fmla="*/ 10800 w 21600"/>
              <a:gd name="T5" fmla="*/ 21600 h 21600"/>
              <a:gd name="T6" fmla="*/ 0 w 21600"/>
              <a:gd name="T7" fmla="*/ 9606 h 21600"/>
              <a:gd name="T8" fmla="*/ 744 w 21600"/>
              <a:gd name="T9" fmla="*/ 9904 h 21600"/>
              <a:gd name="T10" fmla="*/ 21134 w 21600"/>
              <a:gd name="T11" fmla="*/ 15335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C0C0C0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 sz="2400">
              <a:latin typeface="+mn-lt"/>
            </a:endParaRPr>
          </a:p>
        </p:txBody>
      </p:sp>
      <p:sp>
        <p:nvSpPr>
          <p:cNvPr id="11" name="Action Button: Home 14">
            <a:hlinkClick r:id="rId3" action="ppaction://hlinksldjump" highlightClick="1"/>
          </p:cNvPr>
          <p:cNvSpPr/>
          <p:nvPr/>
        </p:nvSpPr>
        <p:spPr bwMode="auto">
          <a:xfrm>
            <a:off x="11430" y="6297890"/>
            <a:ext cx="531639" cy="548680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/>
              <a:t>Computer criminals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/>
          </a:p>
        </p:txBody>
      </p:sp>
      <p:sp>
        <p:nvSpPr>
          <p:cNvPr id="8" name="TextBox 7"/>
          <p:cNvSpPr txBox="1"/>
          <p:nvPr/>
        </p:nvSpPr>
        <p:spPr>
          <a:xfrm>
            <a:off x="698426" y="1384210"/>
            <a:ext cx="8143932" cy="64633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ZA" sz="36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Organised computer crime </a:t>
            </a:r>
            <a:r>
              <a:rPr lang="en-ZA" sz="2800" b="0" dirty="0">
                <a:solidFill>
                  <a:srgbClr val="FF0000"/>
                </a:solidFill>
              </a:rPr>
              <a:t> </a:t>
            </a: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/>
          </a:p>
        </p:txBody>
      </p:sp>
      <p:sp>
        <p:nvSpPr>
          <p:cNvPr id="19" name="Rectangle 18"/>
          <p:cNvSpPr/>
          <p:nvPr/>
        </p:nvSpPr>
        <p:spPr>
          <a:xfrm>
            <a:off x="357126" y="2973244"/>
            <a:ext cx="6303106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000" lvl="0" indent="-3600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600" b="0" dirty="0">
                <a:latin typeface="Arial" panose="020B0604020202020204" pitchFamily="34" charset="0"/>
                <a:cs typeface="Arial" panose="020B0604020202020204" pitchFamily="34" charset="0"/>
              </a:rPr>
              <a:t>Running spam businesses</a:t>
            </a:r>
          </a:p>
          <a:p>
            <a:pPr marL="360000" indent="-3600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600" b="0" dirty="0">
                <a:latin typeface="Arial" panose="020B0604020202020204" pitchFamily="34" charset="0"/>
                <a:cs typeface="Arial" panose="020B0604020202020204" pitchFamily="34" charset="0"/>
              </a:rPr>
              <a:t>Stealing secrets (for blackmail etc.)</a:t>
            </a:r>
          </a:p>
          <a:p>
            <a:pPr marL="360000" indent="-3600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600" b="0" dirty="0">
                <a:latin typeface="Arial" panose="020B0604020202020204" pitchFamily="34" charset="0"/>
                <a:cs typeface="Arial" panose="020B0604020202020204" pitchFamily="34" charset="0"/>
              </a:rPr>
              <a:t>Copying and selling CDs and DVDs illegally</a:t>
            </a:r>
          </a:p>
          <a:p>
            <a:pPr marL="360000" indent="-3600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600" b="0" dirty="0">
                <a:latin typeface="Arial" panose="020B0604020202020204" pitchFamily="34" charset="0"/>
                <a:cs typeface="Arial" panose="020B0604020202020204" pitchFamily="34" charset="0"/>
              </a:rPr>
              <a:t>Using computers to forge documents – </a:t>
            </a:r>
            <a:br>
              <a:rPr lang="en-US" sz="26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600" b="0" dirty="0">
                <a:latin typeface="Arial" panose="020B0604020202020204" pitchFamily="34" charset="0"/>
                <a:cs typeface="Arial" panose="020B0604020202020204" pitchFamily="34" charset="0"/>
              </a:rPr>
              <a:t>passports, </a:t>
            </a:r>
            <a:r>
              <a:rPr lang="en-US" sz="2600" b="0">
                <a:latin typeface="Arial" panose="020B0604020202020204" pitchFamily="34" charset="0"/>
                <a:cs typeface="Arial" panose="020B0604020202020204" pitchFamily="34" charset="0"/>
              </a:rPr>
              <a:t>credit cards, etc.</a:t>
            </a:r>
            <a:endParaRPr lang="en-ZA" sz="26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7248" y="2315204"/>
            <a:ext cx="79671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2800" dirty="0">
                <a:solidFill>
                  <a:schemeClr val="bg1"/>
                </a:solidFill>
                <a:latin typeface="+mn-lt"/>
              </a:rPr>
              <a:t>Exactly what are these syndicates involved in?</a:t>
            </a:r>
          </a:p>
        </p:txBody>
      </p:sp>
      <p:pic>
        <p:nvPicPr>
          <p:cNvPr id="7170" name="Picture 2" descr="D:\XP Media Content\Media\CntCD1\ClipArt8\j0344115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3692170"/>
            <a:ext cx="2291499" cy="1413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ction Button: Home 14">
            <a:hlinkClick r:id="rId4" action="ppaction://hlinksldjump" highlightClick="1"/>
          </p:cNvPr>
          <p:cNvSpPr/>
          <p:nvPr/>
        </p:nvSpPr>
        <p:spPr bwMode="auto">
          <a:xfrm>
            <a:off x="11430" y="6297890"/>
            <a:ext cx="531639" cy="548680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ZA" sz="4000" dirty="0"/>
              <a:t>Test </a:t>
            </a:r>
            <a:r>
              <a:rPr lang="en-ZA" sz="4000"/>
              <a:t>and improve</a:t>
            </a:r>
            <a:endParaRPr lang="en-ZA" sz="4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143768" y="3857628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998217526"/>
              </p:ext>
            </p:extLst>
          </p:nvPr>
        </p:nvGraphicFramePr>
        <p:xfrm>
          <a:off x="642910" y="2168766"/>
          <a:ext cx="7858180" cy="45005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Action Button: Home 14">
            <a:hlinkClick r:id="rId8" action="ppaction://hlinksldjump" highlightClick="1"/>
          </p:cNvPr>
          <p:cNvSpPr/>
          <p:nvPr/>
        </p:nvSpPr>
        <p:spPr bwMode="auto">
          <a:xfrm>
            <a:off x="11430" y="6297890"/>
            <a:ext cx="531639" cy="548680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sz="2400" dirty="0">
              <a:latin typeface="+mn-lt"/>
            </a:endParaRPr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sz="2400" dirty="0">
              <a:latin typeface="+mn-l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Written module activity</a:t>
            </a:r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9" name="Action Button: Home 14">
            <a:hlinkClick r:id="rId3" action="ppaction://hlinksldjump" highlightClick="1"/>
          </p:cNvPr>
          <p:cNvSpPr/>
          <p:nvPr/>
        </p:nvSpPr>
        <p:spPr bwMode="auto">
          <a:xfrm>
            <a:off x="11430" y="6297890"/>
            <a:ext cx="531639" cy="548680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6A9C41"/>
      </a:dk2>
      <a:lt2>
        <a:srgbClr val="E7E6E6"/>
      </a:lt2>
      <a:accent1>
        <a:srgbClr val="A7D535"/>
      </a:accent1>
      <a:accent2>
        <a:srgbClr val="EACA4F"/>
      </a:accent2>
      <a:accent3>
        <a:srgbClr val="FD9850"/>
      </a:accent3>
      <a:accent4>
        <a:srgbClr val="F46442"/>
      </a:accent4>
      <a:accent5>
        <a:srgbClr val="54D289"/>
      </a:accent5>
      <a:accent6>
        <a:srgbClr val="6AD8CB"/>
      </a:accent6>
      <a:hlink>
        <a:srgbClr val="CAFB50"/>
      </a:hlink>
      <a:folHlink>
        <a:srgbClr val="DEFF8B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9370</TotalTime>
  <Words>712</Words>
  <Application>Microsoft Office PowerPoint</Application>
  <PresentationFormat>On-screen Show (4:3)</PresentationFormat>
  <Paragraphs>170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Symbol</vt:lpstr>
      <vt:lpstr>Trebuchet MS</vt:lpstr>
      <vt:lpstr>Berlin</vt:lpstr>
      <vt:lpstr>Module 1.8  The impact of ICT</vt:lpstr>
      <vt:lpstr>Contents</vt:lpstr>
      <vt:lpstr>How ICTs influence our lives and lifestyles</vt:lpstr>
      <vt:lpstr>How ICTs influence our lives and lifestyles</vt:lpstr>
      <vt:lpstr>How ICTs influence our lives and lifestyles</vt:lpstr>
      <vt:lpstr>How ICTs influence one’s life and life styles</vt:lpstr>
      <vt:lpstr>Impact on home office</vt:lpstr>
      <vt:lpstr>Impact on education</vt:lpstr>
      <vt:lpstr>Impact on education</vt:lpstr>
      <vt:lpstr>Impact on education</vt:lpstr>
      <vt:lpstr>Impact on education</vt:lpstr>
      <vt:lpstr>Computer criminals </vt:lpstr>
      <vt:lpstr>Computer criminals </vt:lpstr>
      <vt:lpstr>Computer criminals </vt:lpstr>
      <vt:lpstr>Computer criminals </vt:lpstr>
      <vt:lpstr>Computer criminals </vt:lpstr>
      <vt:lpstr>Test and improve</vt:lpstr>
      <vt:lpstr>Written module activity</vt:lpstr>
    </vt:vector>
  </TitlesOfParts>
  <Company>Study Opportunities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1.8  The impact of ICT</dc:title>
  <cp:lastModifiedBy>sysop</cp:lastModifiedBy>
  <cp:revision>2</cp:revision>
  <dcterms:created xsi:type="dcterms:W3CDTF">2006-08-13T21:23:21Z</dcterms:created>
  <dcterms:modified xsi:type="dcterms:W3CDTF">2025-08-29T11:09:08Z</dcterms:modified>
</cp:coreProperties>
</file>